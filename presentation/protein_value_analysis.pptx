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10"/>
  <c:chart>
    <c:autoTitleDeleted val="1"/>
    <c:plotArea>
      <c:layout/>
      <c:barChart>
        <c:barDir val="bar"/>
        <c:grouping val="clustered"/>
        <c:varyColors val="1"/>
        <c:ser>
          <c:idx val="0"/>
          <c:order val="0"/>
          <c:tx>
            <c:strRef>
              <c:f>Sheet1!$B$1</c:f>
              <c:strCache>
                <c:ptCount val="1"/>
                <c:pt idx="0">
                  <c:v>값</c:v>
                </c:pt>
              </c:strCache>
            </c:strRef>
          </c:tx>
          <c:invertIfNegative val="1"/>
          <c:dPt>
            <c:idx val="0"/>
            <c:invertIfNegative val="1"/>
            <c:bubble3D val="0"/>
            <c:spPr>
              <a:solidFill>
                <a:srgbClr val="527858"/>
              </a:solidFill>
              <a:ln>
                <a:noFill/>
              </a:ln>
            </c:spPr>
            <c:extLst>
              <c:ext xmlns:c16="http://schemas.microsoft.com/office/drawing/2014/chart" uri="{C3380CC4-5D6E-409C-BE32-E72D297353CC}">
                <c16:uniqueId val="{00000001-CDEA-4672-9BE3-C79EDAC3D1B5}"/>
              </c:ext>
            </c:extLst>
          </c:dPt>
          <c:dPt>
            <c:idx val="1"/>
            <c:invertIfNegative val="1"/>
            <c:bubble3D val="0"/>
            <c:spPr>
              <a:solidFill>
                <a:srgbClr val="C8E85B"/>
              </a:solidFill>
              <a:ln>
                <a:noFill/>
              </a:ln>
            </c:spPr>
            <c:extLst>
              <c:ext xmlns:c16="http://schemas.microsoft.com/office/drawing/2014/chart" uri="{C3380CC4-5D6E-409C-BE32-E72D297353CC}">
                <c16:uniqueId val="{00000003-CDEA-4672-9BE3-C79EDAC3D1B5}"/>
              </c:ext>
            </c:extLst>
          </c:dPt>
          <c:dPt>
            <c:idx val="2"/>
            <c:invertIfNegative val="1"/>
            <c:bubble3D val="0"/>
            <c:spPr>
              <a:solidFill>
                <a:srgbClr val="C8E85B"/>
              </a:solidFill>
              <a:ln>
                <a:noFill/>
              </a:ln>
            </c:spPr>
            <c:extLst>
              <c:ext xmlns:c16="http://schemas.microsoft.com/office/drawing/2014/chart" uri="{C3380CC4-5D6E-409C-BE32-E72D297353CC}">
                <c16:uniqueId val="{00000005-CDEA-4672-9BE3-C79EDAC3D1B5}"/>
              </c:ext>
            </c:extLst>
          </c:dPt>
          <c:dPt>
            <c:idx val="3"/>
            <c:invertIfNegative val="1"/>
            <c:bubble3D val="0"/>
            <c:spPr>
              <a:solidFill>
                <a:srgbClr val="C8E85B"/>
              </a:solidFill>
              <a:ln>
                <a:noFill/>
              </a:ln>
            </c:spPr>
            <c:extLst>
              <c:ext xmlns:c16="http://schemas.microsoft.com/office/drawing/2014/chart" uri="{C3380CC4-5D6E-409C-BE32-E72D297353CC}">
                <c16:uniqueId val="{00000007-CDEA-4672-9BE3-C79EDAC3D1B5}"/>
              </c:ext>
            </c:extLst>
          </c:dPt>
          <c:dPt>
            <c:idx val="4"/>
            <c:invertIfNegative val="1"/>
            <c:bubble3D val="0"/>
            <c:spPr>
              <a:solidFill>
                <a:srgbClr val="C8E85B"/>
              </a:solidFill>
              <a:ln>
                <a:noFill/>
              </a:ln>
            </c:spPr>
            <c:extLst>
              <c:ext xmlns:c16="http://schemas.microsoft.com/office/drawing/2014/chart" uri="{C3380CC4-5D6E-409C-BE32-E72D297353CC}">
                <c16:uniqueId val="{00000009-CDEA-4672-9BE3-C79EDAC3D1B5}"/>
              </c:ext>
            </c:extLst>
          </c:dPt>
          <c:dLbls>
            <c:numFmt formatCode="#,##0" sourceLinked="0"/>
            <c:spPr>
              <a:noFill/>
              <a:ln>
                <a:noFill/>
              </a:ln>
              <a:effectLst/>
            </c:spPr>
            <c:txPr>
              <a:bodyPr/>
              <a:lstStyle/>
              <a:p>
                <a:pPr>
                  <a:defRPr sz="1300"/>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그린비아</c:v>
                </c:pt>
                <c:pt idx="1">
                  <c:v>더단백</c:v>
                </c:pt>
                <c:pt idx="2">
                  <c:v>오트몬드</c:v>
                </c:pt>
                <c:pt idx="3">
                  <c:v>마이밀</c:v>
                </c:pt>
                <c:pt idx="4">
                  <c:v>셀렉스</c:v>
                </c:pt>
              </c:strCache>
            </c:strRef>
          </c:cat>
          <c:val>
            <c:numRef>
              <c:f>Sheet1!$B$2:$B$6</c:f>
              <c:numCache>
                <c:formatCode>General</c:formatCode>
                <c:ptCount val="5"/>
                <c:pt idx="0">
                  <c:v>1052.2222222222222</c:v>
                </c:pt>
                <c:pt idx="1">
                  <c:v>1327.7777777777778</c:v>
                </c:pt>
                <c:pt idx="2">
                  <c:v>1768.2539682539684</c:v>
                </c:pt>
                <c:pt idx="3">
                  <c:v>2366.6666666666665</c:v>
                </c:pt>
                <c:pt idx="4">
                  <c:v>2490.833333333333</c:v>
                </c:pt>
              </c:numCache>
            </c:numRef>
          </c:val>
          <c:extLst>
            <c:ext xmlns:c16="http://schemas.microsoft.com/office/drawing/2014/chart" uri="{C3380CC4-5D6E-409C-BE32-E72D297353CC}">
              <c16:uniqueId val="{0000000A-CDEA-4672-9BE3-C79EDAC3D1B5}"/>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axMin"/>
        </c:scaling>
        <c:delete val="0"/>
        <c:axPos val="l"/>
        <c:numFmt formatCode="General" sourceLinked="0"/>
        <c:majorTickMark val="out"/>
        <c:minorTickMark val="none"/>
        <c:tickLblPos val="nextTo"/>
        <c:txPr>
          <a:bodyPr/>
          <a:lstStyle/>
          <a:p>
            <a:pPr>
              <a:defRPr sz="1300">
                <a:latin typeface="맑은 고딕"/>
              </a:defRPr>
            </a:pPr>
            <a:endParaRPr lang="ko-KR"/>
          </a:p>
        </c:txPr>
        <c:crossAx val="-2113994440"/>
        <c:crosses val="autoZero"/>
        <c:auto val="1"/>
        <c:lblAlgn val="ctr"/>
        <c:lblOffset val="100"/>
        <c:noMultiLvlLbl val="0"/>
      </c:catAx>
      <c:valAx>
        <c:axId val="-2113994440"/>
        <c:scaling>
          <c:orientation val="minMax"/>
          <c:min val="0"/>
        </c:scaling>
        <c:delete val="0"/>
        <c:axPos val="t"/>
        <c:majorGridlines>
          <c:spPr>
            <a:ln>
              <a:solidFill>
                <a:srgbClr val="D7DED2"/>
              </a:solidFill>
            </a:ln>
          </c:spPr>
        </c:majorGridlines>
        <c:numFmt formatCode="General" sourceLinked="1"/>
        <c:majorTickMark val="out"/>
        <c:minorTickMark val="none"/>
        <c:tickLblPos val="nextTo"/>
        <c:txPr>
          <a:bodyPr/>
          <a:lstStyle/>
          <a:p>
            <a:pPr>
              <a:defRPr sz="1000"/>
            </a:pPr>
            <a:endParaRPr lang="ko-KR"/>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10"/>
  <c:chart>
    <c:autoTitleDeleted val="1"/>
    <c:plotArea>
      <c:layout/>
      <c:barChart>
        <c:barDir val="bar"/>
        <c:grouping val="clustered"/>
        <c:varyColors val="1"/>
        <c:ser>
          <c:idx val="0"/>
          <c:order val="0"/>
          <c:tx>
            <c:strRef>
              <c:f>Sheet1!$B$1</c:f>
              <c:strCache>
                <c:ptCount val="1"/>
                <c:pt idx="0">
                  <c:v>값</c:v>
                </c:pt>
              </c:strCache>
            </c:strRef>
          </c:tx>
          <c:invertIfNegative val="1"/>
          <c:dPt>
            <c:idx val="0"/>
            <c:invertIfNegative val="1"/>
            <c:bubble3D val="0"/>
            <c:spPr>
              <a:solidFill>
                <a:srgbClr val="527858"/>
              </a:solidFill>
              <a:ln>
                <a:noFill/>
              </a:ln>
            </c:spPr>
            <c:extLst>
              <c:ext xmlns:c16="http://schemas.microsoft.com/office/drawing/2014/chart" uri="{C3380CC4-5D6E-409C-BE32-E72D297353CC}">
                <c16:uniqueId val="{00000001-467A-4AB0-B86D-0469423F586F}"/>
              </c:ext>
            </c:extLst>
          </c:dPt>
          <c:dPt>
            <c:idx val="1"/>
            <c:invertIfNegative val="1"/>
            <c:bubble3D val="0"/>
            <c:spPr>
              <a:solidFill>
                <a:srgbClr val="C8E85B"/>
              </a:solidFill>
              <a:ln>
                <a:noFill/>
              </a:ln>
            </c:spPr>
            <c:extLst>
              <c:ext xmlns:c16="http://schemas.microsoft.com/office/drawing/2014/chart" uri="{C3380CC4-5D6E-409C-BE32-E72D297353CC}">
                <c16:uniqueId val="{00000003-467A-4AB0-B86D-0469423F586F}"/>
              </c:ext>
            </c:extLst>
          </c:dPt>
          <c:dPt>
            <c:idx val="2"/>
            <c:invertIfNegative val="1"/>
            <c:bubble3D val="0"/>
            <c:spPr>
              <a:solidFill>
                <a:srgbClr val="C8E85B"/>
              </a:solidFill>
              <a:ln>
                <a:noFill/>
              </a:ln>
            </c:spPr>
            <c:extLst>
              <c:ext xmlns:c16="http://schemas.microsoft.com/office/drawing/2014/chart" uri="{C3380CC4-5D6E-409C-BE32-E72D297353CC}">
                <c16:uniqueId val="{00000005-467A-4AB0-B86D-0469423F586F}"/>
              </c:ext>
            </c:extLst>
          </c:dPt>
          <c:dPt>
            <c:idx val="3"/>
            <c:invertIfNegative val="1"/>
            <c:bubble3D val="0"/>
            <c:spPr>
              <a:solidFill>
                <a:srgbClr val="C8E85B"/>
              </a:solidFill>
              <a:ln>
                <a:noFill/>
              </a:ln>
            </c:spPr>
            <c:extLst>
              <c:ext xmlns:c16="http://schemas.microsoft.com/office/drawing/2014/chart" uri="{C3380CC4-5D6E-409C-BE32-E72D297353CC}">
                <c16:uniqueId val="{00000007-467A-4AB0-B86D-0469423F586F}"/>
              </c:ext>
            </c:extLst>
          </c:dPt>
          <c:dPt>
            <c:idx val="4"/>
            <c:invertIfNegative val="1"/>
            <c:bubble3D val="0"/>
            <c:spPr>
              <a:solidFill>
                <a:srgbClr val="C8E85B"/>
              </a:solidFill>
              <a:ln>
                <a:noFill/>
              </a:ln>
            </c:spPr>
            <c:extLst>
              <c:ext xmlns:c16="http://schemas.microsoft.com/office/drawing/2014/chart" uri="{C3380CC4-5D6E-409C-BE32-E72D297353CC}">
                <c16:uniqueId val="{00000009-467A-4AB0-B86D-0469423F586F}"/>
              </c:ext>
            </c:extLst>
          </c:dPt>
          <c:dLbls>
            <c:numFmt formatCode="#,##0.0" sourceLinked="0"/>
            <c:spPr>
              <a:noFill/>
              <a:ln>
                <a:noFill/>
              </a:ln>
              <a:effectLst/>
            </c:spPr>
            <c:txPr>
              <a:bodyPr/>
              <a:lstStyle/>
              <a:p>
                <a:pPr>
                  <a:defRPr sz="1300"/>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셀렉스</c:v>
                </c:pt>
                <c:pt idx="1">
                  <c:v>오트몬드</c:v>
                </c:pt>
                <c:pt idx="2">
                  <c:v>더단백</c:v>
                </c:pt>
                <c:pt idx="3">
                  <c:v>그린비아</c:v>
                </c:pt>
                <c:pt idx="4">
                  <c:v>마이밀</c:v>
                </c:pt>
              </c:strCache>
            </c:strRef>
          </c:cat>
          <c:val>
            <c:numRef>
              <c:f>Sheet1!$B$2:$B$6</c:f>
              <c:numCache>
                <c:formatCode>General</c:formatCode>
                <c:ptCount val="5"/>
                <c:pt idx="0">
                  <c:v>20.202020202020201</c:v>
                </c:pt>
                <c:pt idx="1">
                  <c:v>19.626168224299064</c:v>
                </c:pt>
                <c:pt idx="2">
                  <c:v>19.047619047619047</c:v>
                </c:pt>
                <c:pt idx="3">
                  <c:v>16.666666666666664</c:v>
                </c:pt>
                <c:pt idx="4">
                  <c:v>15.384615384615383</c:v>
                </c:pt>
              </c:numCache>
            </c:numRef>
          </c:val>
          <c:extLst>
            <c:ext xmlns:c16="http://schemas.microsoft.com/office/drawing/2014/chart" uri="{C3380CC4-5D6E-409C-BE32-E72D297353CC}">
              <c16:uniqueId val="{0000000A-467A-4AB0-B86D-0469423F586F}"/>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axMin"/>
        </c:scaling>
        <c:delete val="0"/>
        <c:axPos val="l"/>
        <c:numFmt formatCode="General" sourceLinked="0"/>
        <c:majorTickMark val="out"/>
        <c:minorTickMark val="none"/>
        <c:tickLblPos val="nextTo"/>
        <c:txPr>
          <a:bodyPr/>
          <a:lstStyle/>
          <a:p>
            <a:pPr>
              <a:defRPr sz="1300">
                <a:latin typeface="맑은 고딕"/>
              </a:defRPr>
            </a:pPr>
            <a:endParaRPr lang="ko-KR"/>
          </a:p>
        </c:txPr>
        <c:crossAx val="-2113994440"/>
        <c:crosses val="autoZero"/>
        <c:auto val="1"/>
        <c:lblAlgn val="ctr"/>
        <c:lblOffset val="100"/>
        <c:noMultiLvlLbl val="0"/>
      </c:catAx>
      <c:valAx>
        <c:axId val="-2113994440"/>
        <c:scaling>
          <c:orientation val="minMax"/>
          <c:min val="0"/>
        </c:scaling>
        <c:delete val="0"/>
        <c:axPos val="t"/>
        <c:majorGridlines>
          <c:spPr>
            <a:ln>
              <a:solidFill>
                <a:srgbClr val="D7DED2"/>
              </a:solidFill>
            </a:ln>
          </c:spPr>
        </c:majorGridlines>
        <c:numFmt formatCode="General" sourceLinked="1"/>
        <c:majorTickMark val="out"/>
        <c:minorTickMark val="none"/>
        <c:tickLblPos val="nextTo"/>
        <c:txPr>
          <a:bodyPr/>
          <a:lstStyle/>
          <a:p>
            <a:pPr>
              <a:defRPr sz="1000"/>
            </a:pPr>
            <a:endParaRPr lang="ko-KR"/>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419061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초콜릿 계열 RTD 음료 6개 후보 중 5개 구성 비교. 분말과 음료를 섞지 않았다. 오늘의 가격 관측과 2023년 독립 시험을 분리했다.</a:t>
            </a:r>
          </a:p>
          <a:p>
            <a:endParaRPr/>
          </a:p>
          <a:p>
            <a:r>
              <a:t>[D01] 빙그레 더단백 드링크 초코 250ml (18개) : 다나와 가격비교</a:t>
            </a:r>
          </a:p>
          <a:p>
            <a:r>
              <a:t>https://prod.danawa.com/info/?pcode=14489303</a:t>
            </a:r>
          </a:p>
          <a:p>
            <a:r>
              <a:t>게시 게시일 미표기 / 수집 2026-10-18T11:14:17.913224+00:00</a:t>
            </a:r>
          </a:p>
          <a:p>
            <a:r>
              <a:t>[D02] 매일유업 셀렉스 프로핏 웨이프로틴 초콜릿 330ml (12개) : 다나와 가격비교</a:t>
            </a:r>
          </a:p>
          <a:p>
            <a:r>
              <a:t>https://prod.danawa.com/info/?pcode=12275567</a:t>
            </a:r>
          </a:p>
          <a:p>
            <a:r>
              <a:t>게시 게시일 미표기 / 수집 2026-10-18T11:12:30.106258+00:00</a:t>
            </a:r>
          </a:p>
          <a:p>
            <a:r>
              <a:t>[D04] 정식품 그린비아 프로틴밀 액티브 초코 250ml (18개) : 다나와 가격비교</a:t>
            </a:r>
          </a:p>
          <a:p>
            <a:r>
              <a:t>https://prod.danawa.com/info/?pcode=82470779</a:t>
            </a:r>
          </a:p>
          <a:p>
            <a:r>
              <a:t>게시 게시일 미표기 / 수집 2026-10-18T11:13:03.220992+00:00</a:t>
            </a:r>
          </a:p>
          <a:p>
            <a:r>
              <a:t>[D05] 마이밀 퓨로틴 초코맛 250ml (24개) : 다나와 가격비교</a:t>
            </a:r>
          </a:p>
          <a:p>
            <a:r>
              <a:t>https://prod.danawa.com/info/?pcode=21434753</a:t>
            </a:r>
          </a:p>
          <a:p>
            <a:r>
              <a:t>게시 게시일 미표기 / 수집 2026-10-18T11:13:19.390683+00:00</a:t>
            </a:r>
          </a:p>
          <a:p>
            <a:r>
              <a:t>[D06] 롯데칠성음료 오트몬드 프로틴 초코 제로슈거 250ml (6개) : 다나와 가격비교</a:t>
            </a:r>
          </a:p>
          <a:p>
            <a:r>
              <a:t>https://prod.danawa.com/info/?pcode=92969567</a:t>
            </a:r>
          </a:p>
          <a:p>
            <a:r>
              <a:t>게시 게시일 미표기 / 수집 2026-10-18T11:14:34.525091+00:00</a:t>
            </a:r>
          </a:p>
          <a:p>
            <a:r>
              <a:t>[C01] 더단백 초코 250mL 18개 / 23,900원·무료배송</a:t>
            </a:r>
          </a:p>
          <a:p>
            <a:r>
              <a:t>https://www.coupang.com/vp/products/7411095382?itemId=13466502453&amp;vendorItemId=76137436686</a:t>
            </a:r>
          </a:p>
          <a:p>
            <a:r>
              <a:t>게시 게시일 미표기 / 수집 2026-10-18</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그린비아 초코 250mL 18개, 상품가 18,940원·배송비 0원 관측이다. 시장 전체 최저가나 맛·흡수율·안전성 1위라는 뜻은 아니다. 가격 효율과 열량 효율은 다른 기준이다.</a:t>
            </a:r>
          </a:p>
          <a:p>
            <a:endParaRPr/>
          </a:p>
          <a:p>
            <a:r>
              <a:t>[D04] 정식품 그린비아 프로틴밀 액티브 초코 250ml (18개) : 다나와 가격비교</a:t>
            </a:r>
          </a:p>
          <a:p>
            <a:r>
              <a:t>https://prod.danawa.com/info/?pcode=82470779</a:t>
            </a:r>
          </a:p>
          <a:p>
            <a:r>
              <a:t>게시 게시일 미표기 / 수집 2026-10-18T11:13:03.220992+00:00</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후보는 더단백, 셀렉스, 닥터유, 그린비아, 마이밀, 오트몬드다. 닥터유는 24g과 27g 제품 세대 연결이 불명확해 순위에서 제외했다. 포함 5개 제품도 묶음 수가 6–24개로 달라 결과는 이 관측 구성에 한정된다.</a:t>
            </a:r>
          </a:p>
          <a:p>
            <a:endParaRPr/>
          </a:p>
          <a:p>
            <a:r>
              <a:t>[D01] 빙그레 더단백 드링크 초코 250ml (18개) : 다나와 가격비교</a:t>
            </a:r>
          </a:p>
          <a:p>
            <a:r>
              <a:t>https://prod.danawa.com/info/?pcode=14489303</a:t>
            </a:r>
          </a:p>
          <a:p>
            <a:r>
              <a:t>게시 게시일 미표기 / 수집 2026-10-18T11:14:17.913224+00:00</a:t>
            </a:r>
          </a:p>
          <a:p>
            <a:r>
              <a:t>[D02] 매일유업 셀렉스 프로핏 웨이프로틴 초콜릿 330ml (12개) : 다나와 가격비교</a:t>
            </a:r>
          </a:p>
          <a:p>
            <a:r>
              <a:t>https://prod.danawa.com/info/?pcode=12275567</a:t>
            </a:r>
          </a:p>
          <a:p>
            <a:r>
              <a:t>게시 게시일 미표기 / 수집 2026-10-18T11:12:30.106258+00:00</a:t>
            </a:r>
          </a:p>
          <a:p>
            <a:r>
              <a:t>[D03] 닥터유 단백질 프로 드링크 초코 250ml (12개) : 다나와 가격비교</a:t>
            </a:r>
          </a:p>
          <a:p>
            <a:r>
              <a:t>https://prod.danawa.com/info/?pcode=18186500</a:t>
            </a:r>
          </a:p>
          <a:p>
            <a:r>
              <a:t>게시 게시일 미표기 / 수집 2026-10-18T11:12:46.208534+00:00</a:t>
            </a:r>
          </a:p>
          <a:p>
            <a:r>
              <a:t>[D04] 정식품 그린비아 프로틴밀 액티브 초코 250ml (18개) : 다나와 가격비교</a:t>
            </a:r>
          </a:p>
          <a:p>
            <a:r>
              <a:t>https://prod.danawa.com/info/?pcode=82470779</a:t>
            </a:r>
          </a:p>
          <a:p>
            <a:r>
              <a:t>게시 게시일 미표기 / 수집 2026-10-18T11:13:03.220992+00:00</a:t>
            </a:r>
          </a:p>
          <a:p>
            <a:r>
              <a:t>[D05] 마이밀 퓨로틴 초코맛 250ml (24개) : 다나와 가격비교</a:t>
            </a:r>
          </a:p>
          <a:p>
            <a:r>
              <a:t>https://prod.danawa.com/info/?pcode=21434753</a:t>
            </a:r>
          </a:p>
          <a:p>
            <a:r>
              <a:t>게시 게시일 미표기 / 수집 2026-10-18T11:13:19.390683+00:00</a:t>
            </a:r>
          </a:p>
          <a:p>
            <a:r>
              <a:t>[D06] 롯데칠성음료 오트몬드 프로틴 초코 제로슈거 250ml (6개) : 다나와 가격비교</a:t>
            </a:r>
          </a:p>
          <a:p>
            <a:r>
              <a:t>https://prod.danawa.com/info/?pcode=92969567</a:t>
            </a:r>
          </a:p>
          <a:p>
            <a:r>
              <a:t>게시 게시일 미표기 / 수집 2026-10-18T11:14:34.525091+00:00</a:t>
            </a:r>
          </a:p>
          <a:p>
            <a:r>
              <a:t>[M02] 2026-05-13 닥터유PRO 24g→27g 게시물 제목 확인</a:t>
            </a:r>
          </a:p>
          <a:p>
            <a:r>
              <a:t>https://www.orionworld.com/sns/snsList/89?page=9</a:t>
            </a:r>
          </a:p>
          <a:p>
            <a:r>
              <a:t>게시 2026-05-13 / 수집 2026-10-18</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쿠팡은 computer-use로 로그인 없는 제품 화면을 확인했다. 다나와는 Firecrawl 본문에서 판매처 가격과 배송비를 추출했다. 네이버페이 판매처 값은 다나와 경유이며 네이버 직접 결제 검증은 아니다. 셀렉스 공식 영양표와 한국소비자원 과거 시험을 별도 확보했다. k-skill 쇼핑 모듈을 검토했으나 자동 수집 제한과 API 경로 특성 때문에 호출하지 않았다.</a:t>
            </a:r>
          </a:p>
          <a:p>
            <a:endParaRPr/>
          </a:p>
          <a:p>
            <a:r>
              <a:t>[D01] 빙그레 더단백 드링크 초코 250ml (18개) : 다나와 가격비교</a:t>
            </a:r>
          </a:p>
          <a:p>
            <a:r>
              <a:t>https://prod.danawa.com/info/?pcode=14489303</a:t>
            </a:r>
          </a:p>
          <a:p>
            <a:r>
              <a:t>게시 게시일 미표기 / 수집 2026-10-18T11:14:17.913224+00:00</a:t>
            </a:r>
          </a:p>
          <a:p>
            <a:r>
              <a:t>[D02] 매일유업 셀렉스 프로핏 웨이프로틴 초콜릿 330ml (12개) : 다나와 가격비교</a:t>
            </a:r>
          </a:p>
          <a:p>
            <a:r>
              <a:t>https://prod.danawa.com/info/?pcode=12275567</a:t>
            </a:r>
          </a:p>
          <a:p>
            <a:r>
              <a:t>게시 게시일 미표기 / 수집 2026-10-18T11:12:30.106258+00:00</a:t>
            </a:r>
          </a:p>
          <a:p>
            <a:r>
              <a:t>[D04] 정식품 그린비아 프로틴밀 액티브 초코 250ml (18개) : 다나와 가격비교</a:t>
            </a:r>
          </a:p>
          <a:p>
            <a:r>
              <a:t>https://prod.danawa.com/info/?pcode=82470779</a:t>
            </a:r>
          </a:p>
          <a:p>
            <a:r>
              <a:t>게시 게시일 미표기 / 수집 2026-10-18T11:13:03.220992+00:00</a:t>
            </a:r>
          </a:p>
          <a:p>
            <a:r>
              <a:t>[D05] 마이밀 퓨로틴 초코맛 250ml (24개) : 다나와 가격비교</a:t>
            </a:r>
          </a:p>
          <a:p>
            <a:r>
              <a:t>https://prod.danawa.com/info/?pcode=21434753</a:t>
            </a:r>
          </a:p>
          <a:p>
            <a:r>
              <a:t>게시 게시일 미표기 / 수집 2026-10-18T11:13:19.390683+00:00</a:t>
            </a:r>
          </a:p>
          <a:p>
            <a:r>
              <a:t>[D06] 롯데칠성음료 오트몬드 프로틴 초코 제로슈거 250ml (6개) : 다나와 가격비교</a:t>
            </a:r>
          </a:p>
          <a:p>
            <a:r>
              <a:t>https://prod.danawa.com/info/?pcode=92969567</a:t>
            </a:r>
          </a:p>
          <a:p>
            <a:r>
              <a:t>게시 게시일 미표기 / 수집 2026-10-18T11:14:34.525091+00:00</a:t>
            </a:r>
          </a:p>
          <a:p>
            <a:r>
              <a:t>[C01] 더단백 초코 250mL 18개 / 23,900원·무료배송</a:t>
            </a:r>
          </a:p>
          <a:p>
            <a:r>
              <a:t>https://www.coupang.com/vp/products/7411095382?itemId=13466502453&amp;vendorItemId=76137436686</a:t>
            </a:r>
          </a:p>
          <a:p>
            <a:r>
              <a:t>게시 게시일 미표기 / 수집 2026-10-18</a:t>
            </a:r>
          </a:p>
          <a:p>
            <a:r>
              <a:t>[M01] 매일유업 공식 제품 영양정보</a:t>
            </a:r>
          </a:p>
          <a:p>
            <a:r>
              <a:t>https://productguide.maeil.com/products/wpi</a:t>
            </a:r>
          </a:p>
          <a:p>
            <a:r>
              <a:t>게시 게시일 미표기 / 수집 2026-10-18T11:15:53.424678+00:00</a:t>
            </a:r>
          </a:p>
          <a:p>
            <a:r>
              <a:t>[K01] 한국소비자원 단백질 보충 일반식품 16개 시험·평가, pp.6·15–17</a:t>
            </a:r>
          </a:p>
          <a:p>
            <a:r>
              <a:t>https://isafe.go.kr/DATA/bbs/85/20230808024444967.pdf</a:t>
            </a:r>
          </a:p>
          <a:p>
            <a:r>
              <a:t>게시 2023-08-08 (가격 기준 2023-02) / 수집 2026-10-18</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20g은 비교를 위한 공통 분모이며 개인 섭취 권장량이 아니다. 상품가와 배송비를 더하고, 선택한 묶음의 전체 단백질량으로 나눈다. 쿠폰·멤버십 적립금은 현금 가격에서 빼지 않았고 실결제 가격이라고 표현하지 않았다.</a:t>
            </a:r>
          </a:p>
          <a:p>
            <a:endParaRPr/>
          </a:p>
          <a:p>
            <a:r>
              <a:t>[D01] 빙그레 더단백 드링크 초코 250ml (18개) : 다나와 가격비교</a:t>
            </a:r>
          </a:p>
          <a:p>
            <a:r>
              <a:t>https://prod.danawa.com/info/?pcode=14489303</a:t>
            </a:r>
          </a:p>
          <a:p>
            <a:r>
              <a:t>게시 게시일 미표기 / 수집 2026-10-18T11:14:17.913224+00:00</a:t>
            </a:r>
          </a:p>
          <a:p>
            <a:r>
              <a:t>[D02] 매일유업 셀렉스 프로핏 웨이프로틴 초콜릿 330ml (12개) : 다나와 가격비교</a:t>
            </a:r>
          </a:p>
          <a:p>
            <a:r>
              <a:t>https://prod.danawa.com/info/?pcode=12275567</a:t>
            </a:r>
          </a:p>
          <a:p>
            <a:r>
              <a:t>게시 게시일 미표기 / 수집 2026-10-18T11:12:30.106258+00:00</a:t>
            </a:r>
          </a:p>
          <a:p>
            <a:r>
              <a:t>[D04] 정식품 그린비아 프로틴밀 액티브 초코 250ml (18개) : 다나와 가격비교</a:t>
            </a:r>
          </a:p>
          <a:p>
            <a:r>
              <a:t>https://prod.danawa.com/info/?pcode=82470779</a:t>
            </a:r>
          </a:p>
          <a:p>
            <a:r>
              <a:t>게시 게시일 미표기 / 수집 2026-10-18T11:13:03.220992+00:00</a:t>
            </a:r>
          </a:p>
          <a:p>
            <a:r>
              <a:t>[D05] 마이밀 퓨로틴 초코맛 250ml (24개) : 다나와 가격비교</a:t>
            </a:r>
          </a:p>
          <a:p>
            <a:r>
              <a:t>https://prod.danawa.com/info/?pcode=21434753</a:t>
            </a:r>
          </a:p>
          <a:p>
            <a:r>
              <a:t>게시 게시일 미표기 / 수집 2026-10-18T11:13:19.390683+00:00</a:t>
            </a:r>
          </a:p>
          <a:p>
            <a:r>
              <a:t>[D06] 롯데칠성음료 오트몬드 프로틴 초코 제로슈거 250ml (6개) : 다나와 가격비교</a:t>
            </a:r>
          </a:p>
          <a:p>
            <a:r>
              <a:t>https://prod.danawa.com/info/?pcode=92969567</a:t>
            </a:r>
          </a:p>
          <a:p>
            <a:r>
              <a:t>게시 게시일 미표기 / 수집 2026-10-18T11:14:34.525091+00:00</a:t>
            </a:r>
          </a:p>
          <a:p>
            <a:r>
              <a:t>[C01] 더단백 초코 250mL 18개 / 23,900원·무료배송</a:t>
            </a:r>
          </a:p>
          <a:p>
            <a:r>
              <a:t>https://www.coupang.com/vp/products/7411095382?itemId=13466502453&amp;vendorItemId=76137436686</a:t>
            </a:r>
          </a:p>
          <a:p>
            <a:r>
              <a:t>게시 게시일 미표기 / 수집 2026-10-18</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다나와에 재게시된 11번가 상품가는 21,580원이지만 배송비 3,000원을 더하면 24,580원이다. 쿠팡 직접 화면은 23,900원·무료배송이었다. 따라서 상품가만 고르면 이 사례에서는 680원을 더 지불하게 된다. 두 값 모두 관측 표시가이며 주문 검증은 아니다.</a:t>
            </a:r>
          </a:p>
          <a:p>
            <a:endParaRPr/>
          </a:p>
          <a:p>
            <a:r>
              <a:t>[D01] 빙그레 더단백 드링크 초코 250ml (18개) : 다나와 가격비교</a:t>
            </a:r>
          </a:p>
          <a:p>
            <a:r>
              <a:t>https://prod.danawa.com/info/?pcode=14489303</a:t>
            </a:r>
          </a:p>
          <a:p>
            <a:r>
              <a:t>게시 게시일 미표기 / 수집 2026-10-18T11:14:17.913224+00:00</a:t>
            </a:r>
          </a:p>
          <a:p>
            <a:r>
              <a:t>[C01] 더단백 초코 250mL 18개 / 23,900원·무료배송</a:t>
            </a:r>
          </a:p>
          <a:p>
            <a:r>
              <a:t>https://www.coupang.com/vp/products/7411095382?itemId=13466502453&amp;vendorItemId=76137436686</a:t>
            </a:r>
          </a:p>
          <a:p>
            <a:r>
              <a:t>게시 게시일 미표기 / 수집 2026-10-18</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그린비아 약 1052원, 더단백 1328원, 오트몬드 1768원, 마이밀 2367원, 셀렉스 2491원이다. 이는 각 구성에서 확보한 판매처 중 배송비 포함 최소값이다. 가격비교 화면에서 모든 판매처와 모든 묶음을 수집한 것은 아니다.</a:t>
            </a:r>
          </a:p>
          <a:p>
            <a:endParaRPr/>
          </a:p>
          <a:p>
            <a:r>
              <a:t>[D01] 빙그레 더단백 드링크 초코 250ml (18개) : 다나와 가격비교</a:t>
            </a:r>
          </a:p>
          <a:p>
            <a:r>
              <a:t>https://prod.danawa.com/info/?pcode=14489303</a:t>
            </a:r>
          </a:p>
          <a:p>
            <a:r>
              <a:t>게시 게시일 미표기 / 수집 2026-10-18T11:14:17.913224+00:00</a:t>
            </a:r>
          </a:p>
          <a:p>
            <a:r>
              <a:t>[D02] 매일유업 셀렉스 프로핏 웨이프로틴 초콜릿 330ml (12개) : 다나와 가격비교</a:t>
            </a:r>
          </a:p>
          <a:p>
            <a:r>
              <a:t>https://prod.danawa.com/info/?pcode=12275567</a:t>
            </a:r>
          </a:p>
          <a:p>
            <a:r>
              <a:t>게시 게시일 미표기 / 수집 2026-10-18T11:12:30.106258+00:00</a:t>
            </a:r>
          </a:p>
          <a:p>
            <a:r>
              <a:t>[D04] 정식품 그린비아 프로틴밀 액티브 초코 250ml (18개) : 다나와 가격비교</a:t>
            </a:r>
          </a:p>
          <a:p>
            <a:r>
              <a:t>https://prod.danawa.com/info/?pcode=82470779</a:t>
            </a:r>
          </a:p>
          <a:p>
            <a:r>
              <a:t>게시 게시일 미표기 / 수집 2026-10-18T11:13:03.220992+00:00</a:t>
            </a:r>
          </a:p>
          <a:p>
            <a:r>
              <a:t>[D05] 마이밀 퓨로틴 초코맛 250ml (24개) : 다나와 가격비교</a:t>
            </a:r>
          </a:p>
          <a:p>
            <a:r>
              <a:t>https://prod.danawa.com/info/?pcode=21434753</a:t>
            </a:r>
          </a:p>
          <a:p>
            <a:r>
              <a:t>게시 게시일 미표기 / 수집 2026-10-18T11:13:19.390683+00:00</a:t>
            </a:r>
          </a:p>
          <a:p>
            <a:r>
              <a:t>[D06] 롯데칠성음료 오트몬드 프로틴 초코 제로슈거 250ml (6개) : 다나와 가격비교</a:t>
            </a:r>
          </a:p>
          <a:p>
            <a:r>
              <a:t>https://prod.danawa.com/info/?pcode=92969567</a:t>
            </a:r>
          </a:p>
          <a:p>
            <a:r>
              <a:t>게시 게시일 미표기 / 수집 2026-10-18T11:14:34.525091+00:00</a:t>
            </a:r>
          </a:p>
          <a:p>
            <a:r>
              <a:t>[C01] 더단백 초코 250mL 18개 / 23,900원·무료배송</a:t>
            </a:r>
          </a:p>
          <a:p>
            <a:r>
              <a:t>https://www.coupang.com/vp/products/7411095382?itemId=13466502453&amp;vendorItemId=76137436686</a:t>
            </a:r>
          </a:p>
          <a:p>
            <a:r>
              <a:t>게시 게시일 미표기 / 수집 2026-10-18</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셀렉스 20g/99kcal는 100kcal당 약 20.2g이다. 그린비아는 20g/120kcal로 약 16.7g이다. 이 비율은 표시 영양성분으로 계산한 지표이며 생체 흡수율이나 전체 품질의 점수가 아니다. 셀렉스 수치는 제조사 공식 자료로도 확인했다.</a:t>
            </a:r>
          </a:p>
          <a:p>
            <a:endParaRPr/>
          </a:p>
          <a:p>
            <a:r>
              <a:t>[D01] 빙그레 더단백 드링크 초코 250ml (18개) : 다나와 가격비교</a:t>
            </a:r>
          </a:p>
          <a:p>
            <a:r>
              <a:t>https://prod.danawa.com/info/?pcode=14489303</a:t>
            </a:r>
          </a:p>
          <a:p>
            <a:r>
              <a:t>게시 게시일 미표기 / 수집 2026-10-18T11:14:17.913224+00:00</a:t>
            </a:r>
          </a:p>
          <a:p>
            <a:r>
              <a:t>[D02] 매일유업 셀렉스 프로핏 웨이프로틴 초콜릿 330ml (12개) : 다나와 가격비교</a:t>
            </a:r>
          </a:p>
          <a:p>
            <a:r>
              <a:t>https://prod.danawa.com/info/?pcode=12275567</a:t>
            </a:r>
          </a:p>
          <a:p>
            <a:r>
              <a:t>게시 게시일 미표기 / 수집 2026-10-18T11:12:30.106258+00:00</a:t>
            </a:r>
          </a:p>
          <a:p>
            <a:r>
              <a:t>[D04] 정식품 그린비아 프로틴밀 액티브 초코 250ml (18개) : 다나와 가격비교</a:t>
            </a:r>
          </a:p>
          <a:p>
            <a:r>
              <a:t>https://prod.danawa.com/info/?pcode=82470779</a:t>
            </a:r>
          </a:p>
          <a:p>
            <a:r>
              <a:t>게시 게시일 미표기 / 수집 2026-10-18T11:13:03.220992+00:00</a:t>
            </a:r>
          </a:p>
          <a:p>
            <a:r>
              <a:t>[D05] 마이밀 퓨로틴 초코맛 250ml (24개) : 다나와 가격비교</a:t>
            </a:r>
          </a:p>
          <a:p>
            <a:r>
              <a:t>https://prod.danawa.com/info/?pcode=21434753</a:t>
            </a:r>
          </a:p>
          <a:p>
            <a:r>
              <a:t>게시 게시일 미표기 / 수집 2026-10-18T11:13:19.390683+00:00</a:t>
            </a:r>
          </a:p>
          <a:p>
            <a:r>
              <a:t>[D06] 롯데칠성음료 오트몬드 프로틴 초코 제로슈거 250ml (6개) : 다나와 가격비교</a:t>
            </a:r>
          </a:p>
          <a:p>
            <a:r>
              <a:t>https://prod.danawa.com/info/?pcode=92969567</a:t>
            </a:r>
          </a:p>
          <a:p>
            <a:r>
              <a:t>게시 게시일 미표기 / 수집 2026-10-18T11:14:34.525091+00:00</a:t>
            </a:r>
          </a:p>
          <a:p>
            <a:r>
              <a:t>[M01] 매일유업 공식 제품 영양정보</a:t>
            </a:r>
          </a:p>
          <a:p>
            <a:r>
              <a:t>https://productguide.maeil.com/products/wpi</a:t>
            </a:r>
          </a:p>
          <a:p>
            <a:r>
              <a:t>게시 게시일 미표기 / 수집 2026-10-18T11:15:53.424678+00:00</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최초 조사에서 더단백 상품 요약에 당류가 없다는 이유로 상세 이미지까지 확인하지 않고 미확보로 처리했다. 사용자 제공 쿠팡 상세 라벨에서 250mL·105kcal·단백질20g·당류0.8g을 확인해 정정했다. 셀렉스는 공식 0g, 그린비아는 재게시 1g, 오트몬드는 재게시 0g이다. 마이밀은 현재 판매 구성의 상세 라벨 검토가 아직 완료되지 않은 상태이며 정보가 공개되지 않았다는 뜻이 아니다. 100% WPI 원료 사용이라는 말은 음료 전체가 단백질이라는 뜻이 아니며 원료 유형을 우열 점수로 바꾸지 않았다.</a:t>
            </a:r>
          </a:p>
          <a:p>
            <a:endParaRPr/>
          </a:p>
          <a:p>
            <a:r>
              <a:t>[D02] 매일유업 셀렉스 프로핏 웨이프로틴 초콜릿 330ml (12개) : 다나와 가격비교</a:t>
            </a:r>
          </a:p>
          <a:p>
            <a:r>
              <a:t>https://prod.danawa.com/info/?pcode=12275567</a:t>
            </a:r>
          </a:p>
          <a:p>
            <a:r>
              <a:t>게시 게시일 미표기 / 수집 2026-10-18T11:12:30.106258+00:00</a:t>
            </a:r>
          </a:p>
          <a:p>
            <a:r>
              <a:t>[D04] 정식품 그린비아 프로틴밀 액티브 초코 250ml (18개) : 다나와 가격비교</a:t>
            </a:r>
          </a:p>
          <a:p>
            <a:r>
              <a:t>https://prod.danawa.com/info/?pcode=82470779</a:t>
            </a:r>
          </a:p>
          <a:p>
            <a:r>
              <a:t>게시 게시일 미표기 / 수집 2026-10-18T11:13:03.220992+00:00</a:t>
            </a:r>
          </a:p>
          <a:p>
            <a:r>
              <a:t>[D05] 마이밀 퓨로틴 초코맛 250ml (24개) : 다나와 가격비교</a:t>
            </a:r>
          </a:p>
          <a:p>
            <a:r>
              <a:t>https://prod.danawa.com/info/?pcode=21434753</a:t>
            </a:r>
          </a:p>
          <a:p>
            <a:r>
              <a:t>게시 게시일 미표기 / 수집 2026-10-18T11:13:19.390683+00:00</a:t>
            </a:r>
          </a:p>
          <a:p>
            <a:r>
              <a:t>[D06] 롯데칠성음료 오트몬드 프로틴 초코 제로슈거 250ml (6개) : 다나와 가격비교</a:t>
            </a:r>
          </a:p>
          <a:p>
            <a:r>
              <a:t>https://prod.danawa.com/info/?pcode=92969567</a:t>
            </a:r>
          </a:p>
          <a:p>
            <a:r>
              <a:t>게시 게시일 미표기 / 수집 2026-10-18T11:14:34.525091+00:00</a:t>
            </a:r>
          </a:p>
          <a:p>
            <a:r>
              <a:t>[C02] 더단백 초코 250mL 상세 영양표: 당류 0.8g·단백질 20g·105kcal</a:t>
            </a:r>
          </a:p>
          <a:p>
            <a:r>
              <a:t>https://www.coupang.com/vp/products/7411095382?itemId=13466502453&amp;vendorItemId=76137436686</a:t>
            </a:r>
          </a:p>
          <a:p>
            <a:r>
              <a:t>게시 게시일 미표기 / 수집 2026-10-18</a:t>
            </a:r>
          </a:p>
          <a:p>
            <a:r>
              <a:t>[M01] 매일유업 공식 제품 영양정보</a:t>
            </a:r>
          </a:p>
          <a:p>
            <a:r>
              <a:t>https://productguide.maeil.com/products/wpi</a:t>
            </a:r>
          </a:p>
          <a:p>
            <a:r>
              <a:t>게시 게시일 미표기 / 수집 2026-10-18T11:15:53.424678+00:00</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비용과 단백질 20g당 열량을 나란히 비교한다. 가중치를 임의로 정한 종합 품질 점수는 만들지 않았다. 원료 선호, 실제 맛, 소화 경험, 알레르기는 이 차트로 판단할 수 없다.</a:t>
            </a:r>
          </a:p>
          <a:p>
            <a:endParaRPr/>
          </a:p>
          <a:p>
            <a:r>
              <a:t>[D01] 빙그레 더단백 드링크 초코 250ml (18개) : 다나와 가격비교</a:t>
            </a:r>
          </a:p>
          <a:p>
            <a:r>
              <a:t>https://prod.danawa.com/info/?pcode=14489303</a:t>
            </a:r>
          </a:p>
          <a:p>
            <a:r>
              <a:t>게시 게시일 미표기 / 수집 2026-10-18T11:14:17.913224+00:00</a:t>
            </a:r>
          </a:p>
          <a:p>
            <a:r>
              <a:t>[D02] 매일유업 셀렉스 프로핏 웨이프로틴 초콜릿 330ml (12개) : 다나와 가격비교</a:t>
            </a:r>
          </a:p>
          <a:p>
            <a:r>
              <a:t>https://prod.danawa.com/info/?pcode=12275567</a:t>
            </a:r>
          </a:p>
          <a:p>
            <a:r>
              <a:t>게시 게시일 미표기 / 수집 2026-10-18T11:12:30.106258+00:00</a:t>
            </a:r>
          </a:p>
          <a:p>
            <a:r>
              <a:t>[D04] 정식품 그린비아 프로틴밀 액티브 초코 250ml (18개) : 다나와 가격비교</a:t>
            </a:r>
          </a:p>
          <a:p>
            <a:r>
              <a:t>https://prod.danawa.com/info/?pcode=82470779</a:t>
            </a:r>
          </a:p>
          <a:p>
            <a:r>
              <a:t>게시 게시일 미표기 / 수집 2026-10-18T11:13:03.220992+00:00</a:t>
            </a:r>
          </a:p>
          <a:p>
            <a:r>
              <a:t>[D05] 마이밀 퓨로틴 초코맛 250ml (24개) : 다나와 가격비교</a:t>
            </a:r>
          </a:p>
          <a:p>
            <a:r>
              <a:t>https://prod.danawa.com/info/?pcode=21434753</a:t>
            </a:r>
          </a:p>
          <a:p>
            <a:r>
              <a:t>게시 게시일 미표기 / 수집 2026-10-18T11:13:19.390683+00:00</a:t>
            </a:r>
          </a:p>
          <a:p>
            <a:r>
              <a:t>[D06] 롯데칠성음료 오트몬드 프로틴 초코 제로슈거 250ml (6개) : 다나와 가격비교</a:t>
            </a:r>
          </a:p>
          <a:p>
            <a:r>
              <a:t>https://prod.danawa.com/info/?pcode=92969567</a:t>
            </a:r>
          </a:p>
          <a:p>
            <a:r>
              <a:t>게시 게시일 미표기 / 수집 2026-10-18T11:14:34.525091+00:00</a:t>
            </a:r>
          </a:p>
          <a:p>
            <a:r>
              <a:t>[C01] 더단백 초코 250mL 18개 / 23,900원·무료배송</a:t>
            </a:r>
          </a:p>
          <a:p>
            <a:r>
              <a:t>https://www.coupang.com/vp/products/7411095382?itemId=13466502453&amp;vendorItemId=76137436686</a:t>
            </a:r>
          </a:p>
          <a:p>
            <a:r>
              <a:t>게시 게시일 미표기 / 수집 2026-10-18</a:t>
            </a:r>
          </a:p>
          <a:p>
            <a:r>
              <a:t>[M01] 매일유업 공식 제품 영양정보</a:t>
            </a:r>
          </a:p>
          <a:p>
            <a:r>
              <a:t>https://productguide.maeil.com/products/wpi</a:t>
            </a:r>
          </a:p>
          <a:p>
            <a:r>
              <a:t>게시 게시일 미표기 / 수집 2026-10-18T11:15:53.424678+00:00</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2023년 8월 발표 보고서의 16개 시험 제품 중 14개는 당시 비교 기준인 아미노산스코어 85 이상이었다. 단백질 1g당 보고 가격은 32–375원이었다. 가장 저렴한 NS포대유청 WPC는 아미노산스코어 127이었다. 서로 다른 유형과 용도의 제품이므로 이 사실을 현재 모든 프로틴에 일반화하지 않는다. 당시 가격은 2023년 2월 기준이고 현재 판매 제품에 이 점수를 붙이지 않았다.</a:t>
            </a:r>
          </a:p>
          <a:p>
            <a:endParaRPr/>
          </a:p>
          <a:p>
            <a:r>
              <a:t>[K01] 한국소비자원 단백질 보충 일반식품 16개 시험·평가, pp.6·15–17</a:t>
            </a:r>
          </a:p>
          <a:p>
            <a:r>
              <a:t>https://isafe.go.kr/DATA/bbs/85/20230808024444967.pdf</a:t>
            </a:r>
          </a:p>
          <a:p>
            <a:r>
              <a:t>게시 2023-08-08 (가격 기준 2023-02) / 수집 2026-10-18</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이번 관측 구성에서 가격 우선이면 그린비아, 열량 대비 단백질 우선이면 셀렉스가 앞섰다. 이것은 개인별 섭취나 의료 권고가 아닌 비교 데이터의 요약이다. 구매 시에는 같은 맛·용량·단백질 표시·수량·배송비를 다시 확인해야 한다. 결론은 특정 브랜드의 절대적 품질 우위가 아니라 단백질량과 배송비를 맞춰 비교해야 한다는 것이다.</a:t>
            </a:r>
          </a:p>
          <a:p>
            <a:endParaRPr/>
          </a:p>
          <a:p>
            <a:r>
              <a:t>[D01] 빙그레 더단백 드링크 초코 250ml (18개) : 다나와 가격비교</a:t>
            </a:r>
          </a:p>
          <a:p>
            <a:r>
              <a:t>https://prod.danawa.com/info/?pcode=14489303</a:t>
            </a:r>
          </a:p>
          <a:p>
            <a:r>
              <a:t>게시 게시일 미표기 / 수집 2026-10-18T11:14:17.913224+00:00</a:t>
            </a:r>
          </a:p>
          <a:p>
            <a:r>
              <a:t>[D02] 매일유업 셀렉스 프로핏 웨이프로틴 초콜릿 330ml (12개) : 다나와 가격비교</a:t>
            </a:r>
          </a:p>
          <a:p>
            <a:r>
              <a:t>https://prod.danawa.com/info/?pcode=12275567</a:t>
            </a:r>
          </a:p>
          <a:p>
            <a:r>
              <a:t>게시 게시일 미표기 / 수집 2026-10-18T11:12:30.106258+00:00</a:t>
            </a:r>
          </a:p>
          <a:p>
            <a:r>
              <a:t>[D04] 정식품 그린비아 프로틴밀 액티브 초코 250ml (18개) : 다나와 가격비교</a:t>
            </a:r>
          </a:p>
          <a:p>
            <a:r>
              <a:t>https://prod.danawa.com/info/?pcode=82470779</a:t>
            </a:r>
          </a:p>
          <a:p>
            <a:r>
              <a:t>게시 게시일 미표기 / 수집 2026-10-18T11:13:03.220992+00:00</a:t>
            </a:r>
          </a:p>
          <a:p>
            <a:r>
              <a:t>[D05] 마이밀 퓨로틴 초코맛 250ml (24개) : 다나와 가격비교</a:t>
            </a:r>
          </a:p>
          <a:p>
            <a:r>
              <a:t>https://prod.danawa.com/info/?pcode=21434753</a:t>
            </a:r>
          </a:p>
          <a:p>
            <a:r>
              <a:t>게시 게시일 미표기 / 수집 2026-10-18T11:13:19.390683+00:00</a:t>
            </a:r>
          </a:p>
          <a:p>
            <a:r>
              <a:t>[D06] 롯데칠성음료 오트몬드 프로틴 초코 제로슈거 250ml (6개) : 다나와 가격비교</a:t>
            </a:r>
          </a:p>
          <a:p>
            <a:r>
              <a:t>https://prod.danawa.com/info/?pcode=92969567</a:t>
            </a:r>
          </a:p>
          <a:p>
            <a:r>
              <a:t>게시 게시일 미표기 / 수집 2026-10-18T11:14:34.525091+00:00</a:t>
            </a:r>
          </a:p>
          <a:p>
            <a:r>
              <a:t>[C01] 더단백 초코 250mL 18개 / 23,900원·무료배송</a:t>
            </a:r>
          </a:p>
          <a:p>
            <a:r>
              <a:t>https://www.coupang.com/vp/products/7411095382?itemId=13466502453&amp;vendorItemId=76137436686</a:t>
            </a:r>
          </a:p>
          <a:p>
            <a:r>
              <a:t>게시 게시일 미표기 / 수집 2026-10-18</a:t>
            </a:r>
          </a:p>
          <a:p>
            <a:r>
              <a:t>[M01] 매일유업 공식 제품 영양정보</a:t>
            </a:r>
          </a:p>
          <a:p>
            <a:r>
              <a:t>https://productguide.maeil.com/products/wpi</a:t>
            </a:r>
          </a:p>
          <a:p>
            <a:r>
              <a:t>게시 게시일 미표기 / 수집 2026-10-18T11:15:53.424678+00:00</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소규모 목적 표본으로 시장 전체를 대표하지 않는다. 6팩과 24팩의 구매 부담과 배송비가 다르다. 표시 성분은 실제 함량 실험이 아니다. 2023년 시험은 과거 제품과 당시 가격에만 적용한다. 전체 CSV·분석 코드·제외 사유를 저장소에 보존하고 원문 전문과 인증 파일은 공개하지 않는다.</a:t>
            </a:r>
          </a:p>
          <a:p>
            <a:endParaRPr/>
          </a:p>
          <a:p>
            <a:r>
              <a:t>[D01] 빙그레 더단백 드링크 초코 250ml (18개) : 다나와 가격비교</a:t>
            </a:r>
          </a:p>
          <a:p>
            <a:r>
              <a:t>https://prod.danawa.com/info/?pcode=14489303</a:t>
            </a:r>
          </a:p>
          <a:p>
            <a:r>
              <a:t>게시 게시일 미표기 / 수집 2026-10-18T11:14:17.913224+00:00</a:t>
            </a:r>
          </a:p>
          <a:p>
            <a:r>
              <a:t>[D02] 매일유업 셀렉스 프로핏 웨이프로틴 초콜릿 330ml (12개) : 다나와 가격비교</a:t>
            </a:r>
          </a:p>
          <a:p>
            <a:r>
              <a:t>https://prod.danawa.com/info/?pcode=12275567</a:t>
            </a:r>
          </a:p>
          <a:p>
            <a:r>
              <a:t>게시 게시일 미표기 / 수집 2026-10-18T11:12:30.106258+00:00</a:t>
            </a:r>
          </a:p>
          <a:p>
            <a:r>
              <a:t>[D03] 닥터유 단백질 프로 드링크 초코 250ml (12개) : 다나와 가격비교</a:t>
            </a:r>
          </a:p>
          <a:p>
            <a:r>
              <a:t>https://prod.danawa.com/info/?pcode=18186500</a:t>
            </a:r>
          </a:p>
          <a:p>
            <a:r>
              <a:t>게시 게시일 미표기 / 수집 2026-10-18T11:12:46.208534+00:00</a:t>
            </a:r>
          </a:p>
          <a:p>
            <a:r>
              <a:t>[D04] 정식품 그린비아 프로틴밀 액티브 초코 250ml (18개) : 다나와 가격비교</a:t>
            </a:r>
          </a:p>
          <a:p>
            <a:r>
              <a:t>https://prod.danawa.com/info/?pcode=82470779</a:t>
            </a:r>
          </a:p>
          <a:p>
            <a:r>
              <a:t>게시 게시일 미표기 / 수집 2026-10-18T11:13:03.220992+00:00</a:t>
            </a:r>
          </a:p>
          <a:p>
            <a:r>
              <a:t>[D05] 마이밀 퓨로틴 초코맛 250ml (24개) : 다나와 가격비교</a:t>
            </a:r>
          </a:p>
          <a:p>
            <a:r>
              <a:t>https://prod.danawa.com/info/?pcode=21434753</a:t>
            </a:r>
          </a:p>
          <a:p>
            <a:r>
              <a:t>게시 게시일 미표기 / 수집 2026-10-18T11:13:19.390683+00:00</a:t>
            </a:r>
          </a:p>
          <a:p>
            <a:r>
              <a:t>[D06] 롯데칠성음료 오트몬드 프로틴 초코 제로슈거 250ml (6개) : 다나와 가격비교</a:t>
            </a:r>
          </a:p>
          <a:p>
            <a:r>
              <a:t>https://prod.danawa.com/info/?pcode=92969567</a:t>
            </a:r>
          </a:p>
          <a:p>
            <a:r>
              <a:t>게시 게시일 미표기 / 수집 2026-10-18T11:14:34.525091+00:00</a:t>
            </a:r>
          </a:p>
          <a:p>
            <a:r>
              <a:t>[C01] 더단백 초코 250mL 18개 / 23,900원·무료배송</a:t>
            </a:r>
          </a:p>
          <a:p>
            <a:r>
              <a:t>https://www.coupang.com/vp/products/7411095382?itemId=13466502453&amp;vendorItemId=76137436686</a:t>
            </a:r>
          </a:p>
          <a:p>
            <a:r>
              <a:t>게시 게시일 미표기 / 수집 2026-10-18</a:t>
            </a:r>
          </a:p>
          <a:p>
            <a:r>
              <a:t>[C02] 더단백 초코 250mL 상세 영양표: 당류 0.8g·단백질 20g·105kcal</a:t>
            </a:r>
          </a:p>
          <a:p>
            <a:r>
              <a:t>https://www.coupang.com/vp/products/7411095382?itemId=13466502453&amp;vendorItemId=76137436686</a:t>
            </a:r>
          </a:p>
          <a:p>
            <a:r>
              <a:t>게시 게시일 미표기 / 수집 2026-10-18</a:t>
            </a:r>
          </a:p>
          <a:p>
            <a:r>
              <a:t>[M01] 매일유업 공식 제품 영양정보</a:t>
            </a:r>
          </a:p>
          <a:p>
            <a:r>
              <a:t>https://productguide.maeil.com/products/wpi</a:t>
            </a:r>
          </a:p>
          <a:p>
            <a:r>
              <a:t>게시 게시일 미표기 / 수집 2026-10-18T11:15:53.424678+00:00</a:t>
            </a:r>
          </a:p>
          <a:p>
            <a:r>
              <a:t>[N01] 오트몬드 250mL·21g 출시 보도</a:t>
            </a:r>
          </a:p>
          <a:p>
            <a:r>
              <a:t>https://www.edaily.co.kr/News/Read?newsId=02125446642200080</a:t>
            </a:r>
          </a:p>
          <a:p>
            <a:r>
              <a:t>게시 게시일 미표기 / 수집 2026-10-18T11:16:18.622963+00:00</a:t>
            </a:r>
          </a:p>
          <a:p>
            <a:r>
              <a:t>[M02] 2026-05-13 닥터유PRO 24g→27g 게시물 제목 확인</a:t>
            </a:r>
          </a:p>
          <a:p>
            <a:r>
              <a:t>https://www.orionworld.com/sns/snsList/89?page=9</a:t>
            </a:r>
          </a:p>
          <a:p>
            <a:r>
              <a:t>게시 2026-05-13 / 수집 2026-10-18</a:t>
            </a:r>
          </a:p>
          <a:p>
            <a:r>
              <a:t>[K01] 한국소비자원 단백질 보충 일반식품 16개 시험·평가, pp.6·15–17</a:t>
            </a:r>
          </a:p>
          <a:p>
            <a:r>
              <a:t>https://isafe.go.kr/DATA/bbs/85/20230808024444967.pdf</a:t>
            </a:r>
          </a:p>
          <a:p>
            <a:r>
              <a:t>게시 2023-08-08 (가격 기준 2023-02) / 수집 2026-10-18</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hyperlink" Target="https://prod.danawa.com/info/?pcode=92969567" TargetMode="External"/><Relationship Id="rId13" Type="http://schemas.openxmlformats.org/officeDocument/2006/relationships/hyperlink" Target="https://isafe.go.kr/DATA/bbs/85/20230808024444967.pdf" TargetMode="External"/><Relationship Id="rId3" Type="http://schemas.openxmlformats.org/officeDocument/2006/relationships/hyperlink" Target="https://prod.danawa.com/info/?pcode=14489303" TargetMode="External"/><Relationship Id="rId7" Type="http://schemas.openxmlformats.org/officeDocument/2006/relationships/hyperlink" Target="https://prod.danawa.com/info/?pcode=21434753" TargetMode="External"/><Relationship Id="rId12" Type="http://schemas.openxmlformats.org/officeDocument/2006/relationships/hyperlink" Target="https://www.orionworld.com/sns/snsList/89?page=9"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hyperlink" Target="https://prod.danawa.com/info/?pcode=82470779" TargetMode="External"/><Relationship Id="rId11" Type="http://schemas.openxmlformats.org/officeDocument/2006/relationships/hyperlink" Target="https://www.edaily.co.kr/News/Read?newsId=02125446642200080" TargetMode="External"/><Relationship Id="rId5" Type="http://schemas.openxmlformats.org/officeDocument/2006/relationships/hyperlink" Target="https://prod.danawa.com/info/?pcode=18186500" TargetMode="External"/><Relationship Id="rId10" Type="http://schemas.openxmlformats.org/officeDocument/2006/relationships/hyperlink" Target="https://productguide.maeil.com/products/wpi" TargetMode="External"/><Relationship Id="rId4" Type="http://schemas.openxmlformats.org/officeDocument/2006/relationships/hyperlink" Target="https://prod.danawa.com/info/?pcode=12275567" TargetMode="External"/><Relationship Id="rId9" Type="http://schemas.openxmlformats.org/officeDocument/2006/relationships/hyperlink" Target="https://www.coupang.com/vp/products/7411095382?itemId=13466502453&amp;vendorItemId=7613743668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523"/>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74320"/>
          </a:xfrm>
          <a:prstGeom prst="rect">
            <a:avLst/>
          </a:prstGeom>
          <a:noFill/>
        </p:spPr>
        <p:txBody>
          <a:bodyPr wrap="square" lIns="0" tIns="0" rIns="0" bIns="0">
            <a:spAutoFit/>
          </a:bodyPr>
          <a:lstStyle/>
          <a:p>
            <a:pPr>
              <a:spcAft>
                <a:spcPts val="800"/>
              </a:spcAft>
              <a:defRPr sz="1000" b="1">
                <a:solidFill>
                  <a:srgbClr val="C8E85B"/>
                </a:solidFill>
                <a:latin typeface="맑은 고딕"/>
              </a:defRPr>
            </a:pPr>
            <a:r>
              <a:t>PROTEIN / VALUE LAB</a:t>
            </a:r>
          </a:p>
        </p:txBody>
      </p:sp>
      <p:sp>
        <p:nvSpPr>
          <p:cNvPr id="3" name="TextBox 2"/>
          <p:cNvSpPr txBox="1"/>
          <p:nvPr/>
        </p:nvSpPr>
        <p:spPr>
          <a:xfrm>
            <a:off x="502920" y="960120"/>
            <a:ext cx="11064240" cy="1042415"/>
          </a:xfrm>
          <a:prstGeom prst="rect">
            <a:avLst/>
          </a:prstGeom>
          <a:noFill/>
        </p:spPr>
        <p:txBody>
          <a:bodyPr wrap="square" lIns="0" tIns="0" rIns="0" bIns="0">
            <a:spAutoFit/>
          </a:bodyPr>
          <a:lstStyle/>
          <a:p>
            <a:pPr>
              <a:spcAft>
                <a:spcPts val="800"/>
              </a:spcAft>
              <a:defRPr sz="3100" b="1">
                <a:solidFill>
                  <a:srgbClr val="F3F5EB"/>
                </a:solidFill>
                <a:latin typeface="맑은 고딕"/>
              </a:defRPr>
            </a:pPr>
            <a:r>
              <a:t>단백질 20g, 얼마면 될까?</a:t>
            </a:r>
          </a:p>
        </p:txBody>
      </p:sp>
      <p:sp>
        <p:nvSpPr>
          <p:cNvPr id="4" name="TextBox 3"/>
          <p:cNvSpPr txBox="1"/>
          <p:nvPr/>
        </p:nvSpPr>
        <p:spPr>
          <a:xfrm>
            <a:off x="530352" y="2039112"/>
            <a:ext cx="10972800" cy="530352"/>
          </a:xfrm>
          <a:prstGeom prst="rect">
            <a:avLst/>
          </a:prstGeom>
          <a:noFill/>
        </p:spPr>
        <p:txBody>
          <a:bodyPr wrap="square" lIns="0" tIns="0" rIns="0" bIns="0">
            <a:spAutoFit/>
          </a:bodyPr>
          <a:lstStyle/>
          <a:p>
            <a:pPr>
              <a:spcAft>
                <a:spcPts val="800"/>
              </a:spcAft>
              <a:defRPr sz="1300" b="0">
                <a:solidFill>
                  <a:srgbClr val="B8C5B6"/>
                </a:solidFill>
                <a:latin typeface="맑은 고딕"/>
              </a:defRPr>
            </a:pPr>
            <a:r>
              <a:t>온라인 판매가격과 영양성분으로 찾는 가성비 프로틴</a:t>
            </a:r>
          </a:p>
        </p:txBody>
      </p:sp>
      <p:sp>
        <p:nvSpPr>
          <p:cNvPr id="5" name="TextBox 4"/>
          <p:cNvSpPr txBox="1"/>
          <p:nvPr/>
        </p:nvSpPr>
        <p:spPr>
          <a:xfrm>
            <a:off x="11018520" y="6428232"/>
            <a:ext cx="685800" cy="274320"/>
          </a:xfrm>
          <a:prstGeom prst="rect">
            <a:avLst/>
          </a:prstGeom>
          <a:noFill/>
        </p:spPr>
        <p:txBody>
          <a:bodyPr wrap="square" lIns="0" tIns="0" rIns="0" bIns="0">
            <a:spAutoFit/>
          </a:bodyPr>
          <a:lstStyle/>
          <a:p>
            <a:pPr>
              <a:spcAft>
                <a:spcPts val="800"/>
              </a:spcAft>
              <a:defRPr sz="1000" b="1">
                <a:solidFill>
                  <a:srgbClr val="F3F5EB"/>
                </a:solidFill>
                <a:latin typeface="맑은 고딕"/>
              </a:defRPr>
            </a:pPr>
            <a:r>
              <a:t>01 / 13</a:t>
            </a:r>
          </a:p>
        </p:txBody>
      </p:sp>
      <p:sp>
        <p:nvSpPr>
          <p:cNvPr id="6" name="TextBox 5"/>
          <p:cNvSpPr txBox="1"/>
          <p:nvPr/>
        </p:nvSpPr>
        <p:spPr>
          <a:xfrm>
            <a:off x="502920" y="6428232"/>
            <a:ext cx="10332720" cy="256032"/>
          </a:xfrm>
          <a:prstGeom prst="rect">
            <a:avLst/>
          </a:prstGeom>
          <a:noFill/>
        </p:spPr>
        <p:txBody>
          <a:bodyPr wrap="square" lIns="0" tIns="0" rIns="0" bIns="0">
            <a:spAutoFit/>
          </a:bodyPr>
          <a:lstStyle/>
          <a:p>
            <a:pPr>
              <a:spcAft>
                <a:spcPts val="800"/>
              </a:spcAft>
              <a:defRPr sz="800" b="0">
                <a:solidFill>
                  <a:srgbClr val="B8C5B6"/>
                </a:solidFill>
                <a:latin typeface="맑은 고딕"/>
              </a:defRPr>
            </a:pPr>
            <a:r>
              <a:t>D01 · D02 · D04 · D05 · D06 · C01 | 수집 2026.10.18 · 공개 표시값·관측 구성 한정</a:t>
            </a:r>
          </a:p>
        </p:txBody>
      </p:sp>
      <p:sp>
        <p:nvSpPr>
          <p:cNvPr id="7" name="TextBox 6"/>
          <p:cNvSpPr txBox="1"/>
          <p:nvPr/>
        </p:nvSpPr>
        <p:spPr>
          <a:xfrm>
            <a:off x="548640" y="2880360"/>
            <a:ext cx="6400800" cy="1645920"/>
          </a:xfrm>
          <a:prstGeom prst="rect">
            <a:avLst/>
          </a:prstGeom>
          <a:noFill/>
        </p:spPr>
        <p:txBody>
          <a:bodyPr wrap="square" lIns="0" tIns="0" rIns="0" bIns="0">
            <a:spAutoFit/>
          </a:bodyPr>
          <a:lstStyle/>
          <a:p>
            <a:pPr>
              <a:spcAft>
                <a:spcPts val="800"/>
              </a:spcAft>
              <a:defRPr sz="10600" b="1">
                <a:solidFill>
                  <a:srgbClr val="C8E85B"/>
                </a:solidFill>
                <a:latin typeface="맑은 고딕"/>
              </a:defRPr>
            </a:pPr>
            <a:r>
              <a:t>20g</a:t>
            </a:r>
          </a:p>
        </p:txBody>
      </p:sp>
      <p:sp>
        <p:nvSpPr>
          <p:cNvPr id="8" name="TextBox 7"/>
          <p:cNvSpPr txBox="1"/>
          <p:nvPr/>
        </p:nvSpPr>
        <p:spPr>
          <a:xfrm>
            <a:off x="612648" y="4983480"/>
            <a:ext cx="6766560" cy="822960"/>
          </a:xfrm>
          <a:prstGeom prst="rect">
            <a:avLst/>
          </a:prstGeom>
          <a:noFill/>
        </p:spPr>
        <p:txBody>
          <a:bodyPr wrap="square" lIns="0" tIns="0" rIns="0" bIns="0">
            <a:spAutoFit/>
          </a:bodyPr>
          <a:lstStyle/>
          <a:p>
            <a:pPr>
              <a:spcAft>
                <a:spcPts val="800"/>
              </a:spcAft>
              <a:defRPr sz="2200" b="1">
                <a:solidFill>
                  <a:srgbClr val="F3F5EB"/>
                </a:solidFill>
                <a:latin typeface="맑은 고딕"/>
              </a:defRPr>
            </a:pPr>
            <a:r>
              <a:t>같은 단백질량으로 비교하는</a:t>
            </a:r>
          </a:p>
          <a:p>
            <a:pPr>
              <a:spcAft>
                <a:spcPts val="800"/>
              </a:spcAft>
              <a:defRPr sz="2200" b="1">
                <a:solidFill>
                  <a:srgbClr val="F3F5EB"/>
                </a:solidFill>
                <a:latin typeface="맑은 고딕"/>
              </a:defRPr>
            </a:pPr>
            <a:r>
              <a:t>온라인 프로틴 가격 실험</a:t>
            </a:r>
          </a:p>
        </p:txBody>
      </p:sp>
      <p:sp>
        <p:nvSpPr>
          <p:cNvPr id="9" name="Rectangle 8"/>
          <p:cNvSpPr/>
          <p:nvPr/>
        </p:nvSpPr>
        <p:spPr>
          <a:xfrm>
            <a:off x="8229600" y="3383280"/>
            <a:ext cx="612648" cy="2286000"/>
          </a:xfrm>
          <a:prstGeom prst="rect">
            <a:avLst/>
          </a:prstGeom>
          <a:solidFill>
            <a:srgbClr val="C8E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988552" y="2880360"/>
            <a:ext cx="612648" cy="2788920"/>
          </a:xfrm>
          <a:prstGeom prst="rect">
            <a:avLst/>
          </a:prstGeom>
          <a:solidFill>
            <a:srgbClr val="527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747504" y="3749039"/>
            <a:ext cx="612648" cy="1920240"/>
          </a:xfrm>
          <a:prstGeom prst="rect">
            <a:avLst/>
          </a:prstGeom>
          <a:solidFill>
            <a:srgbClr val="527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2523"/>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74320"/>
          </a:xfrm>
          <a:prstGeom prst="rect">
            <a:avLst/>
          </a:prstGeom>
          <a:noFill/>
        </p:spPr>
        <p:txBody>
          <a:bodyPr wrap="square" lIns="0" tIns="0" rIns="0" bIns="0">
            <a:spAutoFit/>
          </a:bodyPr>
          <a:lstStyle/>
          <a:p>
            <a:pPr>
              <a:spcAft>
                <a:spcPts val="800"/>
              </a:spcAft>
              <a:defRPr sz="1000" b="1">
                <a:solidFill>
                  <a:srgbClr val="C8E85B"/>
                </a:solidFill>
                <a:latin typeface="맑은 고딕"/>
              </a:defRPr>
            </a:pPr>
            <a:r>
              <a:t>THE ANSWER FIRST</a:t>
            </a:r>
          </a:p>
        </p:txBody>
      </p:sp>
      <p:sp>
        <p:nvSpPr>
          <p:cNvPr id="3" name="TextBox 2"/>
          <p:cNvSpPr txBox="1"/>
          <p:nvPr/>
        </p:nvSpPr>
        <p:spPr>
          <a:xfrm>
            <a:off x="502920" y="960120"/>
            <a:ext cx="11064240" cy="1042415"/>
          </a:xfrm>
          <a:prstGeom prst="rect">
            <a:avLst/>
          </a:prstGeom>
          <a:noFill/>
        </p:spPr>
        <p:txBody>
          <a:bodyPr wrap="square" lIns="0" tIns="0" rIns="0" bIns="0">
            <a:spAutoFit/>
          </a:bodyPr>
          <a:lstStyle/>
          <a:p>
            <a:pPr>
              <a:spcAft>
                <a:spcPts val="800"/>
              </a:spcAft>
              <a:defRPr sz="3100" b="1">
                <a:solidFill>
                  <a:srgbClr val="F3F5EB"/>
                </a:solidFill>
                <a:latin typeface="맑은 고딕"/>
              </a:defRPr>
            </a:pPr>
            <a:r>
              <a:t>관측한 5개 구성 중, 그린비아가 가장 저렴했다</a:t>
            </a:r>
          </a:p>
        </p:txBody>
      </p:sp>
      <p:sp>
        <p:nvSpPr>
          <p:cNvPr id="4" name="TextBox 3"/>
          <p:cNvSpPr txBox="1"/>
          <p:nvPr/>
        </p:nvSpPr>
        <p:spPr>
          <a:xfrm>
            <a:off x="530352" y="2039112"/>
            <a:ext cx="10972800" cy="530352"/>
          </a:xfrm>
          <a:prstGeom prst="rect">
            <a:avLst/>
          </a:prstGeom>
          <a:noFill/>
        </p:spPr>
        <p:txBody>
          <a:bodyPr wrap="square" lIns="0" tIns="0" rIns="0" bIns="0">
            <a:spAutoFit/>
          </a:bodyPr>
          <a:lstStyle/>
          <a:p>
            <a:pPr>
              <a:spcAft>
                <a:spcPts val="800"/>
              </a:spcAft>
              <a:defRPr sz="1300" b="0">
                <a:solidFill>
                  <a:srgbClr val="B8C5B6"/>
                </a:solidFill>
                <a:latin typeface="맑은 고딕"/>
              </a:defRPr>
            </a:pPr>
            <a:r>
              <a:t>단백질 20g당 약 1,052원 · 선택한 판매 구성·표시 성분 기준</a:t>
            </a:r>
          </a:p>
        </p:txBody>
      </p:sp>
      <p:sp>
        <p:nvSpPr>
          <p:cNvPr id="5" name="TextBox 4"/>
          <p:cNvSpPr txBox="1"/>
          <p:nvPr/>
        </p:nvSpPr>
        <p:spPr>
          <a:xfrm>
            <a:off x="11018520" y="6428232"/>
            <a:ext cx="685800" cy="274320"/>
          </a:xfrm>
          <a:prstGeom prst="rect">
            <a:avLst/>
          </a:prstGeom>
          <a:noFill/>
        </p:spPr>
        <p:txBody>
          <a:bodyPr wrap="square" lIns="0" tIns="0" rIns="0" bIns="0">
            <a:spAutoFit/>
          </a:bodyPr>
          <a:lstStyle/>
          <a:p>
            <a:pPr>
              <a:spcAft>
                <a:spcPts val="800"/>
              </a:spcAft>
              <a:defRPr sz="1000" b="1">
                <a:solidFill>
                  <a:srgbClr val="F3F5EB"/>
                </a:solidFill>
                <a:latin typeface="맑은 고딕"/>
              </a:defRPr>
            </a:pPr>
            <a:r>
              <a:t>02 / 13</a:t>
            </a:r>
          </a:p>
        </p:txBody>
      </p:sp>
      <p:sp>
        <p:nvSpPr>
          <p:cNvPr id="6" name="TextBox 5"/>
          <p:cNvSpPr txBox="1"/>
          <p:nvPr/>
        </p:nvSpPr>
        <p:spPr>
          <a:xfrm>
            <a:off x="502920" y="6428232"/>
            <a:ext cx="10332720" cy="256032"/>
          </a:xfrm>
          <a:prstGeom prst="rect">
            <a:avLst/>
          </a:prstGeom>
          <a:noFill/>
        </p:spPr>
        <p:txBody>
          <a:bodyPr wrap="square" lIns="0" tIns="0" rIns="0" bIns="0">
            <a:spAutoFit/>
          </a:bodyPr>
          <a:lstStyle/>
          <a:p>
            <a:pPr>
              <a:spcAft>
                <a:spcPts val="800"/>
              </a:spcAft>
              <a:defRPr sz="800" b="0">
                <a:solidFill>
                  <a:srgbClr val="B8C5B6"/>
                </a:solidFill>
                <a:latin typeface="맑은 고딕"/>
              </a:defRPr>
            </a:pPr>
            <a:r>
              <a:t>D04 | 수집 2026.10.18 · 공개 표시값·관측 구성 한정</a:t>
            </a:r>
          </a:p>
        </p:txBody>
      </p:sp>
      <p:sp>
        <p:nvSpPr>
          <p:cNvPr id="7" name="TextBox 6"/>
          <p:cNvSpPr txBox="1"/>
          <p:nvPr/>
        </p:nvSpPr>
        <p:spPr>
          <a:xfrm>
            <a:off x="594360" y="2926080"/>
            <a:ext cx="7315200" cy="1280160"/>
          </a:xfrm>
          <a:prstGeom prst="rect">
            <a:avLst/>
          </a:prstGeom>
          <a:noFill/>
        </p:spPr>
        <p:txBody>
          <a:bodyPr wrap="square" lIns="0" tIns="0" rIns="0" bIns="0">
            <a:spAutoFit/>
          </a:bodyPr>
          <a:lstStyle/>
          <a:p>
            <a:pPr>
              <a:spcAft>
                <a:spcPts val="800"/>
              </a:spcAft>
              <a:defRPr sz="8300" b="1">
                <a:solidFill>
                  <a:srgbClr val="C8E85B"/>
                </a:solidFill>
                <a:latin typeface="맑은 고딕"/>
              </a:defRPr>
            </a:pPr>
            <a:r>
              <a:t>1,052원</a:t>
            </a:r>
          </a:p>
        </p:txBody>
      </p:sp>
      <p:sp>
        <p:nvSpPr>
          <p:cNvPr id="8" name="TextBox 7"/>
          <p:cNvSpPr txBox="1"/>
          <p:nvPr/>
        </p:nvSpPr>
        <p:spPr>
          <a:xfrm>
            <a:off x="640080" y="4572000"/>
            <a:ext cx="7315200" cy="822960"/>
          </a:xfrm>
          <a:prstGeom prst="rect">
            <a:avLst/>
          </a:prstGeom>
          <a:noFill/>
        </p:spPr>
        <p:txBody>
          <a:bodyPr wrap="square" lIns="0" tIns="0" rIns="0" bIns="0">
            <a:spAutoFit/>
          </a:bodyPr>
          <a:lstStyle/>
          <a:p>
            <a:pPr>
              <a:spcAft>
                <a:spcPts val="800"/>
              </a:spcAft>
              <a:defRPr sz="2100" b="1">
                <a:solidFill>
                  <a:srgbClr val="F3F5EB"/>
                </a:solidFill>
                <a:latin typeface="맑은 고딕"/>
              </a:defRPr>
            </a:pPr>
            <a:r>
              <a:t>그린비아 초코 250mL × 18팩</a:t>
            </a:r>
          </a:p>
          <a:p>
            <a:pPr>
              <a:spcAft>
                <a:spcPts val="800"/>
              </a:spcAft>
              <a:defRPr sz="2100" b="1">
                <a:solidFill>
                  <a:srgbClr val="F3F5EB"/>
                </a:solidFill>
                <a:latin typeface="맑은 고딕"/>
              </a:defRPr>
            </a:pPr>
            <a:r>
              <a:t>18,940원 ÷ (18 × 20g) × 20g</a:t>
            </a:r>
          </a:p>
        </p:txBody>
      </p:sp>
      <p:sp>
        <p:nvSpPr>
          <p:cNvPr id="9" name="TextBox 8"/>
          <p:cNvSpPr txBox="1"/>
          <p:nvPr/>
        </p:nvSpPr>
        <p:spPr>
          <a:xfrm>
            <a:off x="8549640" y="3291840"/>
            <a:ext cx="2926080" cy="2011680"/>
          </a:xfrm>
          <a:prstGeom prst="rect">
            <a:avLst/>
          </a:prstGeom>
          <a:noFill/>
        </p:spPr>
        <p:txBody>
          <a:bodyPr wrap="square" lIns="0" tIns="0" rIns="0" bIns="0">
            <a:spAutoFit/>
          </a:bodyPr>
          <a:lstStyle/>
          <a:p>
            <a:pPr>
              <a:spcAft>
                <a:spcPts val="800"/>
              </a:spcAft>
              <a:defRPr sz="2500" b="1">
                <a:solidFill>
                  <a:srgbClr val="F3F5EB"/>
                </a:solidFill>
                <a:latin typeface="맑은 고딕"/>
              </a:defRPr>
            </a:pPr>
            <a:r>
              <a:t>가격 효율 1위</a:t>
            </a:r>
          </a:p>
          <a:p>
            <a:pPr>
              <a:spcAft>
                <a:spcPts val="800"/>
              </a:spcAft>
              <a:defRPr sz="2500" b="1">
                <a:solidFill>
                  <a:srgbClr val="F3F5EB"/>
                </a:solidFill>
                <a:latin typeface="맑은 고딕"/>
              </a:defRPr>
            </a:pPr>
            <a:r>
              <a:t>≠</a:t>
            </a:r>
          </a:p>
          <a:p>
            <a:pPr>
              <a:spcAft>
                <a:spcPts val="800"/>
              </a:spcAft>
              <a:defRPr sz="2500" b="1">
                <a:solidFill>
                  <a:srgbClr val="F3F5EB"/>
                </a:solidFill>
                <a:latin typeface="맑은 고딕"/>
              </a:defRPr>
            </a:pPr>
            <a:r>
              <a:t>전체 품질 1위</a:t>
            </a:r>
          </a:p>
        </p:txBody>
      </p:sp>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5E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74320"/>
          </a:xfrm>
          <a:prstGeom prst="rect">
            <a:avLst/>
          </a:prstGeom>
          <a:noFill/>
        </p:spPr>
        <p:txBody>
          <a:bodyPr wrap="square" lIns="0" tIns="0" rIns="0" bIns="0">
            <a:spAutoFit/>
          </a:bodyPr>
          <a:lstStyle/>
          <a:p>
            <a:pPr>
              <a:spcAft>
                <a:spcPts val="800"/>
              </a:spcAft>
              <a:defRPr sz="1000" b="1">
                <a:solidFill>
                  <a:srgbClr val="527858"/>
                </a:solidFill>
                <a:latin typeface="맑은 고딕"/>
              </a:defRPr>
            </a:pPr>
            <a:r>
              <a:t>DEFINE THE SAMPLE</a:t>
            </a:r>
          </a:p>
        </p:txBody>
      </p:sp>
      <p:sp>
        <p:nvSpPr>
          <p:cNvPr id="3" name="TextBox 2"/>
          <p:cNvSpPr txBox="1"/>
          <p:nvPr/>
        </p:nvSpPr>
        <p:spPr>
          <a:xfrm>
            <a:off x="502920" y="960120"/>
            <a:ext cx="11064240" cy="1042415"/>
          </a:xfrm>
          <a:prstGeom prst="rect">
            <a:avLst/>
          </a:prstGeom>
          <a:noFill/>
        </p:spPr>
        <p:txBody>
          <a:bodyPr wrap="square" lIns="0" tIns="0" rIns="0" bIns="0">
            <a:spAutoFit/>
          </a:bodyPr>
          <a:lstStyle/>
          <a:p>
            <a:pPr>
              <a:spcAft>
                <a:spcPts val="800"/>
              </a:spcAft>
              <a:defRPr sz="3100" b="1">
                <a:solidFill>
                  <a:srgbClr val="122523"/>
                </a:solidFill>
                <a:latin typeface="맑은 고딕"/>
              </a:defRPr>
            </a:pPr>
            <a:r>
              <a:t>프로틴이라는 이름보다 비교 조건을 먼저 맞춘다</a:t>
            </a:r>
          </a:p>
        </p:txBody>
      </p:sp>
      <p:sp>
        <p:nvSpPr>
          <p:cNvPr id="4" name="TextBox 3"/>
          <p:cNvSpPr txBox="1"/>
          <p:nvPr/>
        </p:nvSpPr>
        <p:spPr>
          <a:xfrm>
            <a:off x="530352" y="2039112"/>
            <a:ext cx="10972800" cy="530352"/>
          </a:xfrm>
          <a:prstGeom prst="rect">
            <a:avLst/>
          </a:prstGeom>
          <a:noFill/>
        </p:spPr>
        <p:txBody>
          <a:bodyPr wrap="square" lIns="0" tIns="0" rIns="0" bIns="0">
            <a:spAutoFit/>
          </a:bodyPr>
          <a:lstStyle/>
          <a:p>
            <a:pPr>
              <a:spcAft>
                <a:spcPts val="800"/>
              </a:spcAft>
              <a:defRPr sz="1300" b="0">
                <a:solidFill>
                  <a:srgbClr val="738177"/>
                </a:solidFill>
                <a:latin typeface="맑은 고딕"/>
              </a:defRPr>
            </a:pPr>
            <a:r>
              <a:t>초콜릿 계열 · 바로 마시는 RTD · 영양성분과 판매 구성을 연결</a:t>
            </a:r>
          </a:p>
        </p:txBody>
      </p:sp>
      <p:sp>
        <p:nvSpPr>
          <p:cNvPr id="5" name="TextBox 4"/>
          <p:cNvSpPr txBox="1"/>
          <p:nvPr/>
        </p:nvSpPr>
        <p:spPr>
          <a:xfrm>
            <a:off x="11018520" y="6428232"/>
            <a:ext cx="685800" cy="274320"/>
          </a:xfrm>
          <a:prstGeom prst="rect">
            <a:avLst/>
          </a:prstGeom>
          <a:noFill/>
        </p:spPr>
        <p:txBody>
          <a:bodyPr wrap="square" lIns="0" tIns="0" rIns="0" bIns="0">
            <a:spAutoFit/>
          </a:bodyPr>
          <a:lstStyle/>
          <a:p>
            <a:pPr>
              <a:spcAft>
                <a:spcPts val="800"/>
              </a:spcAft>
              <a:defRPr sz="1000" b="1">
                <a:solidFill>
                  <a:srgbClr val="122523"/>
                </a:solidFill>
                <a:latin typeface="맑은 고딕"/>
              </a:defRPr>
            </a:pPr>
            <a:r>
              <a:t>03 / 13</a:t>
            </a:r>
          </a:p>
        </p:txBody>
      </p:sp>
      <p:sp>
        <p:nvSpPr>
          <p:cNvPr id="6" name="TextBox 5"/>
          <p:cNvSpPr txBox="1"/>
          <p:nvPr/>
        </p:nvSpPr>
        <p:spPr>
          <a:xfrm>
            <a:off x="502920" y="6428232"/>
            <a:ext cx="10332720" cy="256032"/>
          </a:xfrm>
          <a:prstGeom prst="rect">
            <a:avLst/>
          </a:prstGeom>
          <a:noFill/>
        </p:spPr>
        <p:txBody>
          <a:bodyPr wrap="square" lIns="0" tIns="0" rIns="0" bIns="0">
            <a:spAutoFit/>
          </a:bodyPr>
          <a:lstStyle/>
          <a:p>
            <a:pPr>
              <a:spcAft>
                <a:spcPts val="800"/>
              </a:spcAft>
              <a:defRPr sz="800" b="0">
                <a:solidFill>
                  <a:srgbClr val="738177"/>
                </a:solidFill>
                <a:latin typeface="맑은 고딕"/>
              </a:defRPr>
            </a:pPr>
            <a:r>
              <a:t>D01 · D02 · D03 · D04 · D05 · D06 · M02 | 수집 2026.10.18 · 공개 표시값·관측 구성 한정</a:t>
            </a:r>
          </a:p>
        </p:txBody>
      </p:sp>
      <p:sp>
        <p:nvSpPr>
          <p:cNvPr id="7" name="TextBox 6"/>
          <p:cNvSpPr txBox="1"/>
          <p:nvPr/>
        </p:nvSpPr>
        <p:spPr>
          <a:xfrm>
            <a:off x="640080" y="2788920"/>
            <a:ext cx="1645920" cy="320040"/>
          </a:xfrm>
          <a:prstGeom prst="rect">
            <a:avLst/>
          </a:prstGeom>
          <a:noFill/>
        </p:spPr>
        <p:txBody>
          <a:bodyPr wrap="square" lIns="0" tIns="0" rIns="0" bIns="0">
            <a:spAutoFit/>
          </a:bodyPr>
          <a:lstStyle/>
          <a:p>
            <a:pPr>
              <a:spcAft>
                <a:spcPts val="800"/>
              </a:spcAft>
              <a:defRPr sz="1500" b="1">
                <a:solidFill>
                  <a:srgbClr val="122523"/>
                </a:solidFill>
                <a:latin typeface="맑은 고딕"/>
              </a:defRPr>
            </a:pPr>
            <a:r>
              <a:t>그린비아</a:t>
            </a:r>
          </a:p>
        </p:txBody>
      </p:sp>
      <p:sp>
        <p:nvSpPr>
          <p:cNvPr id="8" name="TextBox 7"/>
          <p:cNvSpPr txBox="1"/>
          <p:nvPr/>
        </p:nvSpPr>
        <p:spPr>
          <a:xfrm>
            <a:off x="2514600" y="2788920"/>
            <a:ext cx="274320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20g / 250mL</a:t>
            </a:r>
          </a:p>
        </p:txBody>
      </p:sp>
      <p:sp>
        <p:nvSpPr>
          <p:cNvPr id="9" name="TextBox 8"/>
          <p:cNvSpPr txBox="1"/>
          <p:nvPr/>
        </p:nvSpPr>
        <p:spPr>
          <a:xfrm>
            <a:off x="5486400" y="2788920"/>
            <a:ext cx="182880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18팩 관측</a:t>
            </a:r>
          </a:p>
        </p:txBody>
      </p:sp>
      <p:sp>
        <p:nvSpPr>
          <p:cNvPr id="10" name="TextBox 9"/>
          <p:cNvSpPr txBox="1"/>
          <p:nvPr/>
        </p:nvSpPr>
        <p:spPr>
          <a:xfrm>
            <a:off x="8229600" y="2788920"/>
            <a:ext cx="2743200" cy="320040"/>
          </a:xfrm>
          <a:prstGeom prst="rect">
            <a:avLst/>
          </a:prstGeom>
          <a:noFill/>
        </p:spPr>
        <p:txBody>
          <a:bodyPr wrap="square" lIns="0" tIns="0" rIns="0" bIns="0">
            <a:spAutoFit/>
          </a:bodyPr>
          <a:lstStyle/>
          <a:p>
            <a:pPr>
              <a:spcAft>
                <a:spcPts val="800"/>
              </a:spcAft>
              <a:defRPr sz="1300" b="0">
                <a:solidFill>
                  <a:srgbClr val="738177"/>
                </a:solidFill>
                <a:latin typeface="맑은 고딕"/>
              </a:defRPr>
            </a:pPr>
            <a:r>
              <a:t>reported</a:t>
            </a:r>
          </a:p>
        </p:txBody>
      </p:sp>
      <p:sp>
        <p:nvSpPr>
          <p:cNvPr id="11" name="TextBox 10"/>
          <p:cNvSpPr txBox="1"/>
          <p:nvPr/>
        </p:nvSpPr>
        <p:spPr>
          <a:xfrm>
            <a:off x="640080" y="3255263"/>
            <a:ext cx="1645920" cy="320040"/>
          </a:xfrm>
          <a:prstGeom prst="rect">
            <a:avLst/>
          </a:prstGeom>
          <a:noFill/>
        </p:spPr>
        <p:txBody>
          <a:bodyPr wrap="square" lIns="0" tIns="0" rIns="0" bIns="0">
            <a:spAutoFit/>
          </a:bodyPr>
          <a:lstStyle/>
          <a:p>
            <a:pPr>
              <a:spcAft>
                <a:spcPts val="800"/>
              </a:spcAft>
              <a:defRPr sz="1500" b="1">
                <a:solidFill>
                  <a:srgbClr val="122523"/>
                </a:solidFill>
                <a:latin typeface="맑은 고딕"/>
              </a:defRPr>
            </a:pPr>
            <a:r>
              <a:t>더단백</a:t>
            </a:r>
          </a:p>
        </p:txBody>
      </p:sp>
      <p:sp>
        <p:nvSpPr>
          <p:cNvPr id="12" name="TextBox 11"/>
          <p:cNvSpPr txBox="1"/>
          <p:nvPr/>
        </p:nvSpPr>
        <p:spPr>
          <a:xfrm>
            <a:off x="2514600" y="3255263"/>
            <a:ext cx="274320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20g / 250mL</a:t>
            </a:r>
          </a:p>
        </p:txBody>
      </p:sp>
      <p:sp>
        <p:nvSpPr>
          <p:cNvPr id="13" name="TextBox 12"/>
          <p:cNvSpPr txBox="1"/>
          <p:nvPr/>
        </p:nvSpPr>
        <p:spPr>
          <a:xfrm>
            <a:off x="5486400" y="3255263"/>
            <a:ext cx="182880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18팩 관측</a:t>
            </a:r>
          </a:p>
        </p:txBody>
      </p:sp>
      <p:sp>
        <p:nvSpPr>
          <p:cNvPr id="14" name="TextBox 13"/>
          <p:cNvSpPr txBox="1"/>
          <p:nvPr/>
        </p:nvSpPr>
        <p:spPr>
          <a:xfrm>
            <a:off x="8229600" y="3255263"/>
            <a:ext cx="2743200" cy="320040"/>
          </a:xfrm>
          <a:prstGeom prst="rect">
            <a:avLst/>
          </a:prstGeom>
          <a:noFill/>
        </p:spPr>
        <p:txBody>
          <a:bodyPr wrap="square" lIns="0" tIns="0" rIns="0" bIns="0">
            <a:spAutoFit/>
          </a:bodyPr>
          <a:lstStyle/>
          <a:p>
            <a:pPr>
              <a:spcAft>
                <a:spcPts val="800"/>
              </a:spcAft>
              <a:defRPr sz="1300" b="0">
                <a:solidFill>
                  <a:srgbClr val="738177"/>
                </a:solidFill>
                <a:latin typeface="맑은 고딕"/>
              </a:defRPr>
            </a:pPr>
            <a:r>
              <a:t>verified</a:t>
            </a:r>
          </a:p>
        </p:txBody>
      </p:sp>
      <p:sp>
        <p:nvSpPr>
          <p:cNvPr id="15" name="TextBox 14"/>
          <p:cNvSpPr txBox="1"/>
          <p:nvPr/>
        </p:nvSpPr>
        <p:spPr>
          <a:xfrm>
            <a:off x="640080" y="3721608"/>
            <a:ext cx="1645920" cy="320040"/>
          </a:xfrm>
          <a:prstGeom prst="rect">
            <a:avLst/>
          </a:prstGeom>
          <a:noFill/>
        </p:spPr>
        <p:txBody>
          <a:bodyPr wrap="square" lIns="0" tIns="0" rIns="0" bIns="0">
            <a:spAutoFit/>
          </a:bodyPr>
          <a:lstStyle/>
          <a:p>
            <a:pPr>
              <a:spcAft>
                <a:spcPts val="800"/>
              </a:spcAft>
              <a:defRPr sz="1500" b="1">
                <a:solidFill>
                  <a:srgbClr val="122523"/>
                </a:solidFill>
                <a:latin typeface="맑은 고딕"/>
              </a:defRPr>
            </a:pPr>
            <a:r>
              <a:t>오트몬드</a:t>
            </a:r>
          </a:p>
        </p:txBody>
      </p:sp>
      <p:sp>
        <p:nvSpPr>
          <p:cNvPr id="16" name="TextBox 15"/>
          <p:cNvSpPr txBox="1"/>
          <p:nvPr/>
        </p:nvSpPr>
        <p:spPr>
          <a:xfrm>
            <a:off x="2514600" y="3721608"/>
            <a:ext cx="274320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21g / 250mL</a:t>
            </a:r>
          </a:p>
        </p:txBody>
      </p:sp>
      <p:sp>
        <p:nvSpPr>
          <p:cNvPr id="17" name="TextBox 16"/>
          <p:cNvSpPr txBox="1"/>
          <p:nvPr/>
        </p:nvSpPr>
        <p:spPr>
          <a:xfrm>
            <a:off x="5486400" y="3721608"/>
            <a:ext cx="182880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6팩 관측</a:t>
            </a:r>
          </a:p>
        </p:txBody>
      </p:sp>
      <p:sp>
        <p:nvSpPr>
          <p:cNvPr id="18" name="TextBox 17"/>
          <p:cNvSpPr txBox="1"/>
          <p:nvPr/>
        </p:nvSpPr>
        <p:spPr>
          <a:xfrm>
            <a:off x="8229600" y="3721608"/>
            <a:ext cx="2743200" cy="320040"/>
          </a:xfrm>
          <a:prstGeom prst="rect">
            <a:avLst/>
          </a:prstGeom>
          <a:noFill/>
        </p:spPr>
        <p:txBody>
          <a:bodyPr wrap="square" lIns="0" tIns="0" rIns="0" bIns="0">
            <a:spAutoFit/>
          </a:bodyPr>
          <a:lstStyle/>
          <a:p>
            <a:pPr>
              <a:spcAft>
                <a:spcPts val="800"/>
              </a:spcAft>
              <a:defRPr sz="1300" b="0">
                <a:solidFill>
                  <a:srgbClr val="738177"/>
                </a:solidFill>
                <a:latin typeface="맑은 고딕"/>
              </a:defRPr>
            </a:pPr>
            <a:r>
              <a:t>reported</a:t>
            </a:r>
          </a:p>
        </p:txBody>
      </p:sp>
      <p:sp>
        <p:nvSpPr>
          <p:cNvPr id="19" name="TextBox 18"/>
          <p:cNvSpPr txBox="1"/>
          <p:nvPr/>
        </p:nvSpPr>
        <p:spPr>
          <a:xfrm>
            <a:off x="640080" y="4187952"/>
            <a:ext cx="1645920" cy="320040"/>
          </a:xfrm>
          <a:prstGeom prst="rect">
            <a:avLst/>
          </a:prstGeom>
          <a:noFill/>
        </p:spPr>
        <p:txBody>
          <a:bodyPr wrap="square" lIns="0" tIns="0" rIns="0" bIns="0">
            <a:spAutoFit/>
          </a:bodyPr>
          <a:lstStyle/>
          <a:p>
            <a:pPr>
              <a:spcAft>
                <a:spcPts val="800"/>
              </a:spcAft>
              <a:defRPr sz="1500" b="1">
                <a:solidFill>
                  <a:srgbClr val="122523"/>
                </a:solidFill>
                <a:latin typeface="맑은 고딕"/>
              </a:defRPr>
            </a:pPr>
            <a:r>
              <a:t>마이밀</a:t>
            </a:r>
          </a:p>
        </p:txBody>
      </p:sp>
      <p:sp>
        <p:nvSpPr>
          <p:cNvPr id="20" name="TextBox 19"/>
          <p:cNvSpPr txBox="1"/>
          <p:nvPr/>
        </p:nvSpPr>
        <p:spPr>
          <a:xfrm>
            <a:off x="2514600" y="4187952"/>
            <a:ext cx="274320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20g / 250mL</a:t>
            </a:r>
          </a:p>
        </p:txBody>
      </p:sp>
      <p:sp>
        <p:nvSpPr>
          <p:cNvPr id="21" name="TextBox 20"/>
          <p:cNvSpPr txBox="1"/>
          <p:nvPr/>
        </p:nvSpPr>
        <p:spPr>
          <a:xfrm>
            <a:off x="5486400" y="4187952"/>
            <a:ext cx="182880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24팩 관측</a:t>
            </a:r>
          </a:p>
        </p:txBody>
      </p:sp>
      <p:sp>
        <p:nvSpPr>
          <p:cNvPr id="22" name="TextBox 21"/>
          <p:cNvSpPr txBox="1"/>
          <p:nvPr/>
        </p:nvSpPr>
        <p:spPr>
          <a:xfrm>
            <a:off x="8229600" y="4187952"/>
            <a:ext cx="2743200" cy="320040"/>
          </a:xfrm>
          <a:prstGeom prst="rect">
            <a:avLst/>
          </a:prstGeom>
          <a:noFill/>
        </p:spPr>
        <p:txBody>
          <a:bodyPr wrap="square" lIns="0" tIns="0" rIns="0" bIns="0">
            <a:spAutoFit/>
          </a:bodyPr>
          <a:lstStyle/>
          <a:p>
            <a:pPr>
              <a:spcAft>
                <a:spcPts val="800"/>
              </a:spcAft>
              <a:defRPr sz="1300" b="0">
                <a:solidFill>
                  <a:srgbClr val="738177"/>
                </a:solidFill>
                <a:latin typeface="맑은 고딕"/>
              </a:defRPr>
            </a:pPr>
            <a:r>
              <a:t>reported</a:t>
            </a:r>
          </a:p>
        </p:txBody>
      </p:sp>
      <p:sp>
        <p:nvSpPr>
          <p:cNvPr id="23" name="TextBox 22"/>
          <p:cNvSpPr txBox="1"/>
          <p:nvPr/>
        </p:nvSpPr>
        <p:spPr>
          <a:xfrm>
            <a:off x="640080" y="4654296"/>
            <a:ext cx="1645920" cy="320040"/>
          </a:xfrm>
          <a:prstGeom prst="rect">
            <a:avLst/>
          </a:prstGeom>
          <a:noFill/>
        </p:spPr>
        <p:txBody>
          <a:bodyPr wrap="square" lIns="0" tIns="0" rIns="0" bIns="0">
            <a:spAutoFit/>
          </a:bodyPr>
          <a:lstStyle/>
          <a:p>
            <a:pPr>
              <a:spcAft>
                <a:spcPts val="800"/>
              </a:spcAft>
              <a:defRPr sz="1500" b="1">
                <a:solidFill>
                  <a:srgbClr val="122523"/>
                </a:solidFill>
                <a:latin typeface="맑은 고딕"/>
              </a:defRPr>
            </a:pPr>
            <a:r>
              <a:t>셀렉스</a:t>
            </a:r>
          </a:p>
        </p:txBody>
      </p:sp>
      <p:sp>
        <p:nvSpPr>
          <p:cNvPr id="24" name="TextBox 23"/>
          <p:cNvSpPr txBox="1"/>
          <p:nvPr/>
        </p:nvSpPr>
        <p:spPr>
          <a:xfrm>
            <a:off x="2514600" y="4654296"/>
            <a:ext cx="274320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20g / 330mL</a:t>
            </a:r>
          </a:p>
        </p:txBody>
      </p:sp>
      <p:sp>
        <p:nvSpPr>
          <p:cNvPr id="25" name="TextBox 24"/>
          <p:cNvSpPr txBox="1"/>
          <p:nvPr/>
        </p:nvSpPr>
        <p:spPr>
          <a:xfrm>
            <a:off x="5486400" y="4654296"/>
            <a:ext cx="182880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12팩 관측</a:t>
            </a:r>
          </a:p>
        </p:txBody>
      </p:sp>
      <p:sp>
        <p:nvSpPr>
          <p:cNvPr id="26" name="TextBox 25"/>
          <p:cNvSpPr txBox="1"/>
          <p:nvPr/>
        </p:nvSpPr>
        <p:spPr>
          <a:xfrm>
            <a:off x="8229600" y="4654296"/>
            <a:ext cx="2743200" cy="320040"/>
          </a:xfrm>
          <a:prstGeom prst="rect">
            <a:avLst/>
          </a:prstGeom>
          <a:noFill/>
        </p:spPr>
        <p:txBody>
          <a:bodyPr wrap="square" lIns="0" tIns="0" rIns="0" bIns="0">
            <a:spAutoFit/>
          </a:bodyPr>
          <a:lstStyle/>
          <a:p>
            <a:pPr>
              <a:spcAft>
                <a:spcPts val="800"/>
              </a:spcAft>
              <a:defRPr sz="1300" b="0">
                <a:solidFill>
                  <a:srgbClr val="738177"/>
                </a:solidFill>
                <a:latin typeface="맑은 고딕"/>
              </a:defRPr>
            </a:pPr>
            <a:r>
              <a:t>verified</a:t>
            </a:r>
          </a:p>
        </p:txBody>
      </p:sp>
      <p:sp>
        <p:nvSpPr>
          <p:cNvPr id="27" name="TextBox 26"/>
          <p:cNvSpPr txBox="1"/>
          <p:nvPr/>
        </p:nvSpPr>
        <p:spPr>
          <a:xfrm>
            <a:off x="640080" y="5623560"/>
            <a:ext cx="10789920" cy="502920"/>
          </a:xfrm>
          <a:prstGeom prst="rect">
            <a:avLst/>
          </a:prstGeom>
          <a:noFill/>
        </p:spPr>
        <p:txBody>
          <a:bodyPr wrap="square" lIns="0" tIns="0" rIns="0" bIns="0">
            <a:spAutoFit/>
          </a:bodyPr>
          <a:lstStyle/>
          <a:p>
            <a:pPr>
              <a:spcAft>
                <a:spcPts val="800"/>
              </a:spcAft>
              <a:defRPr sz="1200" b="0">
                <a:solidFill>
                  <a:srgbClr val="738177"/>
                </a:solidFill>
                <a:latin typeface="맑은 고딕"/>
              </a:defRPr>
            </a:pPr>
            <a:r>
              <a:t>제외: 닥터유 24g·27g 세대 연결 미확정 / 포함 제품도 전국·전체 묶음 대표 표본 아님</a:t>
            </a:r>
          </a:p>
        </p:txBody>
      </p:sp>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5E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74320"/>
          </a:xfrm>
          <a:prstGeom prst="rect">
            <a:avLst/>
          </a:prstGeom>
          <a:noFill/>
        </p:spPr>
        <p:txBody>
          <a:bodyPr wrap="square" lIns="0" tIns="0" rIns="0" bIns="0">
            <a:spAutoFit/>
          </a:bodyPr>
          <a:lstStyle/>
          <a:p>
            <a:pPr>
              <a:spcAft>
                <a:spcPts val="800"/>
              </a:spcAft>
              <a:defRPr sz="1000" b="1">
                <a:solidFill>
                  <a:srgbClr val="527858"/>
                </a:solidFill>
                <a:latin typeface="맑은 고딕"/>
              </a:defRPr>
            </a:pPr>
            <a:r>
              <a:t>COLLECT &amp; VERIFY</a:t>
            </a:r>
          </a:p>
        </p:txBody>
      </p:sp>
      <p:sp>
        <p:nvSpPr>
          <p:cNvPr id="3" name="TextBox 2"/>
          <p:cNvSpPr txBox="1"/>
          <p:nvPr/>
        </p:nvSpPr>
        <p:spPr>
          <a:xfrm>
            <a:off x="502920" y="960120"/>
            <a:ext cx="11064240" cy="1042415"/>
          </a:xfrm>
          <a:prstGeom prst="rect">
            <a:avLst/>
          </a:prstGeom>
          <a:noFill/>
        </p:spPr>
        <p:txBody>
          <a:bodyPr wrap="square" lIns="0" tIns="0" rIns="0" bIns="0">
            <a:spAutoFit/>
          </a:bodyPr>
          <a:lstStyle/>
          <a:p>
            <a:pPr>
              <a:spcAft>
                <a:spcPts val="800"/>
              </a:spcAft>
              <a:defRPr sz="3100" b="1">
                <a:solidFill>
                  <a:srgbClr val="122523"/>
                </a:solidFill>
                <a:latin typeface="맑은 고딕"/>
              </a:defRPr>
            </a:pPr>
            <a:r>
              <a:t>실제 판매 화면, 가격비교 원문, 공식 자료를 대조했다</a:t>
            </a:r>
          </a:p>
        </p:txBody>
      </p:sp>
      <p:sp>
        <p:nvSpPr>
          <p:cNvPr id="4" name="TextBox 3"/>
          <p:cNvSpPr txBox="1"/>
          <p:nvPr/>
        </p:nvSpPr>
        <p:spPr>
          <a:xfrm>
            <a:off x="530352" y="2039112"/>
            <a:ext cx="10972800" cy="530352"/>
          </a:xfrm>
          <a:prstGeom prst="rect">
            <a:avLst/>
          </a:prstGeom>
          <a:noFill/>
        </p:spPr>
        <p:txBody>
          <a:bodyPr wrap="square" lIns="0" tIns="0" rIns="0" bIns="0">
            <a:spAutoFit/>
          </a:bodyPr>
          <a:lstStyle/>
          <a:p>
            <a:pPr>
              <a:spcAft>
                <a:spcPts val="800"/>
              </a:spcAft>
              <a:defRPr sz="1300" b="0">
                <a:solidFill>
                  <a:srgbClr val="738177"/>
                </a:solidFill>
                <a:latin typeface="맑은 고딕"/>
              </a:defRPr>
            </a:pPr>
            <a:r>
              <a:t>판매처 가격 관측 54건 · 후보 6개 · 계산에 포함 5개</a:t>
            </a:r>
          </a:p>
        </p:txBody>
      </p:sp>
      <p:sp>
        <p:nvSpPr>
          <p:cNvPr id="5" name="TextBox 4"/>
          <p:cNvSpPr txBox="1"/>
          <p:nvPr/>
        </p:nvSpPr>
        <p:spPr>
          <a:xfrm>
            <a:off x="11018520" y="6428232"/>
            <a:ext cx="685800" cy="274320"/>
          </a:xfrm>
          <a:prstGeom prst="rect">
            <a:avLst/>
          </a:prstGeom>
          <a:noFill/>
        </p:spPr>
        <p:txBody>
          <a:bodyPr wrap="square" lIns="0" tIns="0" rIns="0" bIns="0">
            <a:spAutoFit/>
          </a:bodyPr>
          <a:lstStyle/>
          <a:p>
            <a:pPr>
              <a:spcAft>
                <a:spcPts val="800"/>
              </a:spcAft>
              <a:defRPr sz="1000" b="1">
                <a:solidFill>
                  <a:srgbClr val="122523"/>
                </a:solidFill>
                <a:latin typeface="맑은 고딕"/>
              </a:defRPr>
            </a:pPr>
            <a:r>
              <a:t>04 / 13</a:t>
            </a:r>
          </a:p>
        </p:txBody>
      </p:sp>
      <p:sp>
        <p:nvSpPr>
          <p:cNvPr id="6" name="TextBox 5"/>
          <p:cNvSpPr txBox="1"/>
          <p:nvPr/>
        </p:nvSpPr>
        <p:spPr>
          <a:xfrm>
            <a:off x="502920" y="6428232"/>
            <a:ext cx="10332720" cy="256032"/>
          </a:xfrm>
          <a:prstGeom prst="rect">
            <a:avLst/>
          </a:prstGeom>
          <a:noFill/>
        </p:spPr>
        <p:txBody>
          <a:bodyPr wrap="square" lIns="0" tIns="0" rIns="0" bIns="0">
            <a:spAutoFit/>
          </a:bodyPr>
          <a:lstStyle/>
          <a:p>
            <a:pPr>
              <a:spcAft>
                <a:spcPts val="800"/>
              </a:spcAft>
              <a:defRPr sz="800" b="0">
                <a:solidFill>
                  <a:srgbClr val="738177"/>
                </a:solidFill>
                <a:latin typeface="맑은 고딕"/>
              </a:defRPr>
            </a:pPr>
            <a:r>
              <a:t>C01 · D01 · D02 · D04 · D05 · D06 · M01 · K01 | 수집 2026.10.18 · 공개 표시값·관측 구성 한정</a:t>
            </a:r>
          </a:p>
        </p:txBody>
      </p:sp>
      <p:sp>
        <p:nvSpPr>
          <p:cNvPr id="7" name="Rectangle 6"/>
          <p:cNvSpPr/>
          <p:nvPr/>
        </p:nvSpPr>
        <p:spPr>
          <a:xfrm>
            <a:off x="548640" y="3017520"/>
            <a:ext cx="3639312" cy="2514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200400"/>
            <a:ext cx="3236976" cy="320040"/>
          </a:xfrm>
          <a:prstGeom prst="rect">
            <a:avLst/>
          </a:prstGeom>
          <a:noFill/>
        </p:spPr>
        <p:txBody>
          <a:bodyPr wrap="square" lIns="0" tIns="0" rIns="0" bIns="0">
            <a:spAutoFit/>
          </a:bodyPr>
          <a:lstStyle/>
          <a:p>
            <a:pPr>
              <a:spcAft>
                <a:spcPts val="800"/>
              </a:spcAft>
              <a:defRPr sz="1000" b="1">
                <a:solidFill>
                  <a:srgbClr val="527858"/>
                </a:solidFill>
                <a:latin typeface="맑은 고딕"/>
              </a:defRPr>
            </a:pPr>
            <a:r>
              <a:t>01 / OBSERVE</a:t>
            </a:r>
          </a:p>
        </p:txBody>
      </p:sp>
      <p:sp>
        <p:nvSpPr>
          <p:cNvPr id="9" name="TextBox 8"/>
          <p:cNvSpPr txBox="1"/>
          <p:nvPr/>
        </p:nvSpPr>
        <p:spPr>
          <a:xfrm>
            <a:off x="749808" y="3675887"/>
            <a:ext cx="3236976" cy="731520"/>
          </a:xfrm>
          <a:prstGeom prst="rect">
            <a:avLst/>
          </a:prstGeom>
          <a:noFill/>
        </p:spPr>
        <p:txBody>
          <a:bodyPr wrap="square" lIns="0" tIns="0" rIns="0" bIns="0">
            <a:spAutoFit/>
          </a:bodyPr>
          <a:lstStyle/>
          <a:p>
            <a:pPr>
              <a:spcAft>
                <a:spcPts val="800"/>
              </a:spcAft>
              <a:defRPr sz="2700" b="1">
                <a:solidFill>
                  <a:srgbClr val="122523"/>
                </a:solidFill>
                <a:latin typeface="맑은 고딕"/>
              </a:defRPr>
            </a:pPr>
            <a:r>
              <a:t>쿠팡 실제 화면</a:t>
            </a:r>
          </a:p>
        </p:txBody>
      </p:sp>
      <p:sp>
        <p:nvSpPr>
          <p:cNvPr id="10" name="TextBox 9"/>
          <p:cNvSpPr txBox="1"/>
          <p:nvPr/>
        </p:nvSpPr>
        <p:spPr>
          <a:xfrm>
            <a:off x="749808" y="4572000"/>
            <a:ext cx="3236976" cy="822960"/>
          </a:xfrm>
          <a:prstGeom prst="rect">
            <a:avLst/>
          </a:prstGeom>
          <a:noFill/>
        </p:spPr>
        <p:txBody>
          <a:bodyPr wrap="square" lIns="0" tIns="0" rIns="0" bIns="0">
            <a:spAutoFit/>
          </a:bodyPr>
          <a:lstStyle/>
          <a:p>
            <a:pPr>
              <a:spcAft>
                <a:spcPts val="800"/>
              </a:spcAft>
              <a:defRPr sz="1500" b="0">
                <a:solidFill>
                  <a:srgbClr val="738177"/>
                </a:solidFill>
                <a:latin typeface="맑은 고딕"/>
              </a:defRPr>
            </a:pPr>
            <a:r>
              <a:t>로그아웃 가격·배송비·수량</a:t>
            </a:r>
          </a:p>
        </p:txBody>
      </p:sp>
      <p:sp>
        <p:nvSpPr>
          <p:cNvPr id="11" name="Rectangle 10"/>
          <p:cNvSpPr/>
          <p:nvPr/>
        </p:nvSpPr>
        <p:spPr>
          <a:xfrm>
            <a:off x="4389120" y="3017520"/>
            <a:ext cx="3639312" cy="2514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3200400"/>
            <a:ext cx="3236976" cy="320040"/>
          </a:xfrm>
          <a:prstGeom prst="rect">
            <a:avLst/>
          </a:prstGeom>
          <a:noFill/>
        </p:spPr>
        <p:txBody>
          <a:bodyPr wrap="square" lIns="0" tIns="0" rIns="0" bIns="0">
            <a:spAutoFit/>
          </a:bodyPr>
          <a:lstStyle/>
          <a:p>
            <a:pPr>
              <a:spcAft>
                <a:spcPts val="800"/>
              </a:spcAft>
              <a:defRPr sz="1000" b="1">
                <a:solidFill>
                  <a:srgbClr val="527858"/>
                </a:solidFill>
                <a:latin typeface="맑은 고딕"/>
              </a:defRPr>
            </a:pPr>
            <a:r>
              <a:t>02 / EXTRACT</a:t>
            </a:r>
          </a:p>
        </p:txBody>
      </p:sp>
      <p:sp>
        <p:nvSpPr>
          <p:cNvPr id="13" name="TextBox 12"/>
          <p:cNvSpPr txBox="1"/>
          <p:nvPr/>
        </p:nvSpPr>
        <p:spPr>
          <a:xfrm>
            <a:off x="4590288" y="3675887"/>
            <a:ext cx="3236976" cy="731520"/>
          </a:xfrm>
          <a:prstGeom prst="rect">
            <a:avLst/>
          </a:prstGeom>
          <a:noFill/>
        </p:spPr>
        <p:txBody>
          <a:bodyPr wrap="square" lIns="0" tIns="0" rIns="0" bIns="0">
            <a:spAutoFit/>
          </a:bodyPr>
          <a:lstStyle/>
          <a:p>
            <a:pPr>
              <a:spcAft>
                <a:spcPts val="800"/>
              </a:spcAft>
              <a:defRPr sz="2700" b="1">
                <a:solidFill>
                  <a:srgbClr val="122523"/>
                </a:solidFill>
                <a:latin typeface="맑은 고딕"/>
              </a:defRPr>
            </a:pPr>
            <a:r>
              <a:t>Firecrawl 원문</a:t>
            </a:r>
          </a:p>
        </p:txBody>
      </p:sp>
      <p:sp>
        <p:nvSpPr>
          <p:cNvPr id="14" name="TextBox 13"/>
          <p:cNvSpPr txBox="1"/>
          <p:nvPr/>
        </p:nvSpPr>
        <p:spPr>
          <a:xfrm>
            <a:off x="4590288" y="4572000"/>
            <a:ext cx="3236976" cy="822960"/>
          </a:xfrm>
          <a:prstGeom prst="rect">
            <a:avLst/>
          </a:prstGeom>
          <a:noFill/>
        </p:spPr>
        <p:txBody>
          <a:bodyPr wrap="square" lIns="0" tIns="0" rIns="0" bIns="0">
            <a:spAutoFit/>
          </a:bodyPr>
          <a:lstStyle/>
          <a:p>
            <a:pPr>
              <a:spcAft>
                <a:spcPts val="800"/>
              </a:spcAft>
              <a:defRPr sz="1500" b="0">
                <a:solidFill>
                  <a:srgbClr val="738177"/>
                </a:solidFill>
                <a:latin typeface="맑은 고딕"/>
              </a:defRPr>
            </a:pPr>
            <a:r>
              <a:t>판매처별 가격·배송비 추출</a:t>
            </a:r>
          </a:p>
        </p:txBody>
      </p:sp>
      <p:sp>
        <p:nvSpPr>
          <p:cNvPr id="15" name="Rectangle 14"/>
          <p:cNvSpPr/>
          <p:nvPr/>
        </p:nvSpPr>
        <p:spPr>
          <a:xfrm>
            <a:off x="8229600" y="3017520"/>
            <a:ext cx="3639312" cy="2514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30768" y="3200400"/>
            <a:ext cx="3236976" cy="320040"/>
          </a:xfrm>
          <a:prstGeom prst="rect">
            <a:avLst/>
          </a:prstGeom>
          <a:noFill/>
        </p:spPr>
        <p:txBody>
          <a:bodyPr wrap="square" lIns="0" tIns="0" rIns="0" bIns="0">
            <a:spAutoFit/>
          </a:bodyPr>
          <a:lstStyle/>
          <a:p>
            <a:pPr>
              <a:spcAft>
                <a:spcPts val="800"/>
              </a:spcAft>
              <a:defRPr sz="1000" b="1">
                <a:solidFill>
                  <a:srgbClr val="527858"/>
                </a:solidFill>
                <a:latin typeface="맑은 고딕"/>
              </a:defRPr>
            </a:pPr>
            <a:r>
              <a:t>03 / CHECK</a:t>
            </a:r>
          </a:p>
        </p:txBody>
      </p:sp>
      <p:sp>
        <p:nvSpPr>
          <p:cNvPr id="17" name="TextBox 16"/>
          <p:cNvSpPr txBox="1"/>
          <p:nvPr/>
        </p:nvSpPr>
        <p:spPr>
          <a:xfrm>
            <a:off x="8430768" y="3675887"/>
            <a:ext cx="3236976" cy="731520"/>
          </a:xfrm>
          <a:prstGeom prst="rect">
            <a:avLst/>
          </a:prstGeom>
          <a:noFill/>
        </p:spPr>
        <p:txBody>
          <a:bodyPr wrap="square" lIns="0" tIns="0" rIns="0" bIns="0">
            <a:spAutoFit/>
          </a:bodyPr>
          <a:lstStyle/>
          <a:p>
            <a:pPr>
              <a:spcAft>
                <a:spcPts val="800"/>
              </a:spcAft>
              <a:defRPr sz="2700" b="1">
                <a:solidFill>
                  <a:srgbClr val="122523"/>
                </a:solidFill>
                <a:latin typeface="맑은 고딕"/>
              </a:defRPr>
            </a:pPr>
            <a:r>
              <a:t>공식·공공 자료</a:t>
            </a:r>
          </a:p>
        </p:txBody>
      </p:sp>
      <p:sp>
        <p:nvSpPr>
          <p:cNvPr id="18" name="TextBox 17"/>
          <p:cNvSpPr txBox="1"/>
          <p:nvPr/>
        </p:nvSpPr>
        <p:spPr>
          <a:xfrm>
            <a:off x="8430768" y="4572000"/>
            <a:ext cx="3236976" cy="822960"/>
          </a:xfrm>
          <a:prstGeom prst="rect">
            <a:avLst/>
          </a:prstGeom>
          <a:noFill/>
        </p:spPr>
        <p:txBody>
          <a:bodyPr wrap="square" lIns="0" tIns="0" rIns="0" bIns="0">
            <a:spAutoFit/>
          </a:bodyPr>
          <a:lstStyle/>
          <a:p>
            <a:pPr>
              <a:spcAft>
                <a:spcPts val="800"/>
              </a:spcAft>
              <a:defRPr sz="1500" b="0">
                <a:solidFill>
                  <a:srgbClr val="738177"/>
                </a:solidFill>
                <a:latin typeface="맑은 고딕"/>
              </a:defRPr>
            </a:pPr>
            <a:r>
              <a:t>표시 성분과 과거 시험 분리</a:t>
            </a:r>
          </a:p>
        </p:txBody>
      </p:sp>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5E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74320"/>
          </a:xfrm>
          <a:prstGeom prst="rect">
            <a:avLst/>
          </a:prstGeom>
          <a:noFill/>
        </p:spPr>
        <p:txBody>
          <a:bodyPr wrap="square" lIns="0" tIns="0" rIns="0" bIns="0">
            <a:spAutoFit/>
          </a:bodyPr>
          <a:lstStyle/>
          <a:p>
            <a:pPr>
              <a:spcAft>
                <a:spcPts val="800"/>
              </a:spcAft>
              <a:defRPr sz="1000" b="1">
                <a:solidFill>
                  <a:srgbClr val="527858"/>
                </a:solidFill>
                <a:latin typeface="맑은 고딕"/>
              </a:defRPr>
            </a:pPr>
            <a:r>
              <a:t>THE DENOMINATOR</a:t>
            </a:r>
          </a:p>
        </p:txBody>
      </p:sp>
      <p:sp>
        <p:nvSpPr>
          <p:cNvPr id="3" name="TextBox 2"/>
          <p:cNvSpPr txBox="1"/>
          <p:nvPr/>
        </p:nvSpPr>
        <p:spPr>
          <a:xfrm>
            <a:off x="502920" y="960120"/>
            <a:ext cx="11064240" cy="1042415"/>
          </a:xfrm>
          <a:prstGeom prst="rect">
            <a:avLst/>
          </a:prstGeom>
          <a:noFill/>
        </p:spPr>
        <p:txBody>
          <a:bodyPr wrap="square" lIns="0" tIns="0" rIns="0" bIns="0">
            <a:spAutoFit/>
          </a:bodyPr>
          <a:lstStyle/>
          <a:p>
            <a:pPr>
              <a:spcAft>
                <a:spcPts val="800"/>
              </a:spcAft>
              <a:defRPr sz="3100" b="1">
                <a:solidFill>
                  <a:srgbClr val="122523"/>
                </a:solidFill>
                <a:latin typeface="맑은 고딕"/>
              </a:defRPr>
            </a:pPr>
            <a:r>
              <a:t>총액을 단백질 총량으로 나누면 공정해진다</a:t>
            </a:r>
          </a:p>
        </p:txBody>
      </p:sp>
      <p:sp>
        <p:nvSpPr>
          <p:cNvPr id="4" name="TextBox 3"/>
          <p:cNvSpPr txBox="1"/>
          <p:nvPr/>
        </p:nvSpPr>
        <p:spPr>
          <a:xfrm>
            <a:off x="530352" y="2039112"/>
            <a:ext cx="10972800" cy="530352"/>
          </a:xfrm>
          <a:prstGeom prst="rect">
            <a:avLst/>
          </a:prstGeom>
          <a:noFill/>
        </p:spPr>
        <p:txBody>
          <a:bodyPr wrap="square" lIns="0" tIns="0" rIns="0" bIns="0">
            <a:spAutoFit/>
          </a:bodyPr>
          <a:lstStyle/>
          <a:p>
            <a:pPr>
              <a:spcAft>
                <a:spcPts val="800"/>
              </a:spcAft>
              <a:defRPr sz="1300" b="0">
                <a:solidFill>
                  <a:srgbClr val="738177"/>
                </a:solidFill>
                <a:latin typeface="맑은 고딕"/>
              </a:defRPr>
            </a:pPr>
            <a:r>
              <a:t>단백질 20g당 비용 = (상품가 + 배송비) ÷ (팩 수 × 팩당 단백질) × 20</a:t>
            </a:r>
          </a:p>
        </p:txBody>
      </p:sp>
      <p:sp>
        <p:nvSpPr>
          <p:cNvPr id="5" name="TextBox 4"/>
          <p:cNvSpPr txBox="1"/>
          <p:nvPr/>
        </p:nvSpPr>
        <p:spPr>
          <a:xfrm>
            <a:off x="11018520" y="6428232"/>
            <a:ext cx="685800" cy="274320"/>
          </a:xfrm>
          <a:prstGeom prst="rect">
            <a:avLst/>
          </a:prstGeom>
          <a:noFill/>
        </p:spPr>
        <p:txBody>
          <a:bodyPr wrap="square" lIns="0" tIns="0" rIns="0" bIns="0">
            <a:spAutoFit/>
          </a:bodyPr>
          <a:lstStyle/>
          <a:p>
            <a:pPr>
              <a:spcAft>
                <a:spcPts val="800"/>
              </a:spcAft>
              <a:defRPr sz="1000" b="1">
                <a:solidFill>
                  <a:srgbClr val="122523"/>
                </a:solidFill>
                <a:latin typeface="맑은 고딕"/>
              </a:defRPr>
            </a:pPr>
            <a:r>
              <a:t>05 / 13</a:t>
            </a:r>
          </a:p>
        </p:txBody>
      </p:sp>
      <p:sp>
        <p:nvSpPr>
          <p:cNvPr id="6" name="TextBox 5"/>
          <p:cNvSpPr txBox="1"/>
          <p:nvPr/>
        </p:nvSpPr>
        <p:spPr>
          <a:xfrm>
            <a:off x="502920" y="6428232"/>
            <a:ext cx="10332720" cy="256032"/>
          </a:xfrm>
          <a:prstGeom prst="rect">
            <a:avLst/>
          </a:prstGeom>
          <a:noFill/>
        </p:spPr>
        <p:txBody>
          <a:bodyPr wrap="square" lIns="0" tIns="0" rIns="0" bIns="0">
            <a:spAutoFit/>
          </a:bodyPr>
          <a:lstStyle/>
          <a:p>
            <a:pPr>
              <a:spcAft>
                <a:spcPts val="800"/>
              </a:spcAft>
              <a:defRPr sz="800" b="0">
                <a:solidFill>
                  <a:srgbClr val="738177"/>
                </a:solidFill>
                <a:latin typeface="맑은 고딕"/>
              </a:defRPr>
            </a:pPr>
            <a:r>
              <a:t>D01 · D02 · D04 · D05 · D06 · C01 | 수집 2026.10.18 · 공개 표시값·관측 구성 한정</a:t>
            </a:r>
          </a:p>
        </p:txBody>
      </p:sp>
      <p:sp>
        <p:nvSpPr>
          <p:cNvPr id="7" name="TextBox 6"/>
          <p:cNvSpPr txBox="1"/>
          <p:nvPr/>
        </p:nvSpPr>
        <p:spPr>
          <a:xfrm>
            <a:off x="685800" y="2971800"/>
            <a:ext cx="10789920" cy="731520"/>
          </a:xfrm>
          <a:prstGeom prst="rect">
            <a:avLst/>
          </a:prstGeom>
          <a:noFill/>
        </p:spPr>
        <p:txBody>
          <a:bodyPr wrap="square" lIns="0" tIns="0" rIns="0" bIns="0">
            <a:spAutoFit/>
          </a:bodyPr>
          <a:lstStyle/>
          <a:p>
            <a:pPr>
              <a:spcAft>
                <a:spcPts val="800"/>
              </a:spcAft>
              <a:defRPr sz="3800" b="1">
                <a:solidFill>
                  <a:srgbClr val="122523"/>
                </a:solidFill>
                <a:latin typeface="맑은 고딕"/>
              </a:defRPr>
            </a:pPr>
            <a:r>
              <a:t>상품가 + 배송비</a:t>
            </a:r>
          </a:p>
        </p:txBody>
      </p:sp>
      <p:sp>
        <p:nvSpPr>
          <p:cNvPr id="8" name="Rectangle 7"/>
          <p:cNvSpPr/>
          <p:nvPr/>
        </p:nvSpPr>
        <p:spPr>
          <a:xfrm>
            <a:off x="685800" y="3858768"/>
            <a:ext cx="10652760" cy="22860"/>
          </a:xfrm>
          <a:prstGeom prst="rect">
            <a:avLst/>
          </a:prstGeom>
          <a:solidFill>
            <a:srgbClr val="527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4224528"/>
            <a:ext cx="8595360" cy="731520"/>
          </a:xfrm>
          <a:prstGeom prst="rect">
            <a:avLst/>
          </a:prstGeom>
          <a:noFill/>
        </p:spPr>
        <p:txBody>
          <a:bodyPr wrap="square" lIns="0" tIns="0" rIns="0" bIns="0">
            <a:spAutoFit/>
          </a:bodyPr>
          <a:lstStyle/>
          <a:p>
            <a:pPr>
              <a:spcAft>
                <a:spcPts val="800"/>
              </a:spcAft>
              <a:defRPr sz="3400" b="1">
                <a:solidFill>
                  <a:srgbClr val="122523"/>
                </a:solidFill>
                <a:latin typeface="맑은 고딕"/>
              </a:defRPr>
            </a:pPr>
            <a:r>
              <a:t>팩 수 × 팩당 단백질(g)</a:t>
            </a:r>
          </a:p>
        </p:txBody>
      </p:sp>
      <p:sp>
        <p:nvSpPr>
          <p:cNvPr id="10" name="TextBox 9"/>
          <p:cNvSpPr txBox="1"/>
          <p:nvPr/>
        </p:nvSpPr>
        <p:spPr>
          <a:xfrm>
            <a:off x="9326880" y="4224528"/>
            <a:ext cx="2011680" cy="731520"/>
          </a:xfrm>
          <a:prstGeom prst="rect">
            <a:avLst/>
          </a:prstGeom>
          <a:noFill/>
        </p:spPr>
        <p:txBody>
          <a:bodyPr wrap="square" lIns="0" tIns="0" rIns="0" bIns="0">
            <a:spAutoFit/>
          </a:bodyPr>
          <a:lstStyle/>
          <a:p>
            <a:pPr>
              <a:spcAft>
                <a:spcPts val="800"/>
              </a:spcAft>
              <a:defRPr sz="3400" b="1">
                <a:solidFill>
                  <a:srgbClr val="527858"/>
                </a:solidFill>
                <a:latin typeface="맑은 고딕"/>
              </a:defRPr>
            </a:pPr>
            <a:r>
              <a:t>× 20</a:t>
            </a:r>
          </a:p>
        </p:txBody>
      </p:sp>
      <p:sp>
        <p:nvSpPr>
          <p:cNvPr id="11" name="TextBox 10"/>
          <p:cNvSpPr txBox="1"/>
          <p:nvPr/>
        </p:nvSpPr>
        <p:spPr>
          <a:xfrm>
            <a:off x="731520" y="5532120"/>
            <a:ext cx="10515600" cy="411480"/>
          </a:xfrm>
          <a:prstGeom prst="rect">
            <a:avLst/>
          </a:prstGeom>
          <a:noFill/>
        </p:spPr>
        <p:txBody>
          <a:bodyPr wrap="square" lIns="0" tIns="0" rIns="0" bIns="0">
            <a:spAutoFit/>
          </a:bodyPr>
          <a:lstStyle/>
          <a:p>
            <a:pPr>
              <a:spcAft>
                <a:spcPts val="800"/>
              </a:spcAft>
              <a:defRPr sz="1500" b="0">
                <a:solidFill>
                  <a:srgbClr val="738177"/>
                </a:solidFill>
                <a:latin typeface="맑은 고딕"/>
              </a:defRPr>
            </a:pPr>
            <a:r>
              <a:t>20g은 비교 단위이며 개인 섭취 권장량이 아니다.</a:t>
            </a:r>
          </a:p>
        </p:txBody>
      </p:sp>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5E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74320"/>
          </a:xfrm>
          <a:prstGeom prst="rect">
            <a:avLst/>
          </a:prstGeom>
          <a:noFill/>
        </p:spPr>
        <p:txBody>
          <a:bodyPr wrap="square" lIns="0" tIns="0" rIns="0" bIns="0">
            <a:spAutoFit/>
          </a:bodyPr>
          <a:lstStyle/>
          <a:p>
            <a:pPr>
              <a:spcAft>
                <a:spcPts val="800"/>
              </a:spcAft>
              <a:defRPr sz="1000" b="1">
                <a:solidFill>
                  <a:srgbClr val="527858"/>
                </a:solidFill>
                <a:latin typeface="맑은 고딕"/>
              </a:defRPr>
            </a:pPr>
            <a:r>
              <a:t>THE SHIPPING TRAP</a:t>
            </a:r>
          </a:p>
        </p:txBody>
      </p:sp>
      <p:sp>
        <p:nvSpPr>
          <p:cNvPr id="3" name="TextBox 2"/>
          <p:cNvSpPr txBox="1"/>
          <p:nvPr/>
        </p:nvSpPr>
        <p:spPr>
          <a:xfrm>
            <a:off x="502920" y="960120"/>
            <a:ext cx="11064240" cy="1042415"/>
          </a:xfrm>
          <a:prstGeom prst="rect">
            <a:avLst/>
          </a:prstGeom>
          <a:noFill/>
        </p:spPr>
        <p:txBody>
          <a:bodyPr wrap="square" lIns="0" tIns="0" rIns="0" bIns="0">
            <a:spAutoFit/>
          </a:bodyPr>
          <a:lstStyle/>
          <a:p>
            <a:pPr>
              <a:spcAft>
                <a:spcPts val="800"/>
              </a:spcAft>
              <a:defRPr sz="3100" b="1">
                <a:solidFill>
                  <a:srgbClr val="122523"/>
                </a:solidFill>
                <a:latin typeface="맑은 고딕"/>
              </a:defRPr>
            </a:pPr>
            <a:r>
              <a:t>21,580원보다 23,900원이 더 저렴할 수 있다</a:t>
            </a:r>
          </a:p>
        </p:txBody>
      </p:sp>
      <p:sp>
        <p:nvSpPr>
          <p:cNvPr id="4" name="TextBox 3"/>
          <p:cNvSpPr txBox="1"/>
          <p:nvPr/>
        </p:nvSpPr>
        <p:spPr>
          <a:xfrm>
            <a:off x="530352" y="2039112"/>
            <a:ext cx="10972800" cy="530352"/>
          </a:xfrm>
          <a:prstGeom prst="rect">
            <a:avLst/>
          </a:prstGeom>
          <a:noFill/>
        </p:spPr>
        <p:txBody>
          <a:bodyPr wrap="square" lIns="0" tIns="0" rIns="0" bIns="0">
            <a:spAutoFit/>
          </a:bodyPr>
          <a:lstStyle/>
          <a:p>
            <a:pPr>
              <a:spcAft>
                <a:spcPts val="800"/>
              </a:spcAft>
              <a:defRPr sz="1300" b="0">
                <a:solidFill>
                  <a:srgbClr val="738177"/>
                </a:solidFill>
                <a:latin typeface="맑은 고딕"/>
              </a:defRPr>
            </a:pPr>
            <a:r>
              <a:t>더단백 초코 250mL 18개 · 같은 구성의 배송비 포함 비교</a:t>
            </a:r>
          </a:p>
        </p:txBody>
      </p:sp>
      <p:sp>
        <p:nvSpPr>
          <p:cNvPr id="5" name="TextBox 4"/>
          <p:cNvSpPr txBox="1"/>
          <p:nvPr/>
        </p:nvSpPr>
        <p:spPr>
          <a:xfrm>
            <a:off x="11018520" y="6428232"/>
            <a:ext cx="685800" cy="274320"/>
          </a:xfrm>
          <a:prstGeom prst="rect">
            <a:avLst/>
          </a:prstGeom>
          <a:noFill/>
        </p:spPr>
        <p:txBody>
          <a:bodyPr wrap="square" lIns="0" tIns="0" rIns="0" bIns="0">
            <a:spAutoFit/>
          </a:bodyPr>
          <a:lstStyle/>
          <a:p>
            <a:pPr>
              <a:spcAft>
                <a:spcPts val="800"/>
              </a:spcAft>
              <a:defRPr sz="1000" b="1">
                <a:solidFill>
                  <a:srgbClr val="122523"/>
                </a:solidFill>
                <a:latin typeface="맑은 고딕"/>
              </a:defRPr>
            </a:pPr>
            <a:r>
              <a:t>06 / 13</a:t>
            </a:r>
          </a:p>
        </p:txBody>
      </p:sp>
      <p:sp>
        <p:nvSpPr>
          <p:cNvPr id="6" name="TextBox 5"/>
          <p:cNvSpPr txBox="1"/>
          <p:nvPr/>
        </p:nvSpPr>
        <p:spPr>
          <a:xfrm>
            <a:off x="502920" y="6428232"/>
            <a:ext cx="10332720" cy="256032"/>
          </a:xfrm>
          <a:prstGeom prst="rect">
            <a:avLst/>
          </a:prstGeom>
          <a:noFill/>
        </p:spPr>
        <p:txBody>
          <a:bodyPr wrap="square" lIns="0" tIns="0" rIns="0" bIns="0">
            <a:spAutoFit/>
          </a:bodyPr>
          <a:lstStyle/>
          <a:p>
            <a:pPr>
              <a:spcAft>
                <a:spcPts val="800"/>
              </a:spcAft>
              <a:defRPr sz="800" b="0">
                <a:solidFill>
                  <a:srgbClr val="738177"/>
                </a:solidFill>
                <a:latin typeface="맑은 고딕"/>
              </a:defRPr>
            </a:pPr>
            <a:r>
              <a:t>D01 · C01 | 수집 2026.10.18 · 공개 표시값·관측 구성 한정</a:t>
            </a:r>
          </a:p>
        </p:txBody>
      </p:sp>
      <p:pic>
        <p:nvPicPr>
          <p:cNvPr id="7" name="Picture 6" descr="05_shipping.png"/>
          <p:cNvPicPr>
            <a:picLocks noChangeAspect="1"/>
          </p:cNvPicPr>
          <p:nvPr/>
        </p:nvPicPr>
        <p:blipFill>
          <a:blip r:embed="rId3"/>
          <a:stretch>
            <a:fillRect/>
          </a:stretch>
        </p:blipFill>
        <p:spPr>
          <a:xfrm>
            <a:off x="640080" y="2743200"/>
            <a:ext cx="10698480" cy="33832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5E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74320"/>
          </a:xfrm>
          <a:prstGeom prst="rect">
            <a:avLst/>
          </a:prstGeom>
          <a:noFill/>
        </p:spPr>
        <p:txBody>
          <a:bodyPr wrap="square" lIns="0" tIns="0" rIns="0" bIns="0">
            <a:spAutoFit/>
          </a:bodyPr>
          <a:lstStyle/>
          <a:p>
            <a:pPr>
              <a:spcAft>
                <a:spcPts val="800"/>
              </a:spcAft>
              <a:defRPr sz="1000" b="1">
                <a:solidFill>
                  <a:srgbClr val="527858"/>
                </a:solidFill>
                <a:latin typeface="맑은 고딕"/>
              </a:defRPr>
            </a:pPr>
            <a:r>
              <a:t>COST PER 20G</a:t>
            </a:r>
          </a:p>
        </p:txBody>
      </p:sp>
      <p:sp>
        <p:nvSpPr>
          <p:cNvPr id="3" name="TextBox 2"/>
          <p:cNvSpPr txBox="1"/>
          <p:nvPr/>
        </p:nvSpPr>
        <p:spPr>
          <a:xfrm>
            <a:off x="502920" y="960120"/>
            <a:ext cx="11064240" cy="1042415"/>
          </a:xfrm>
          <a:prstGeom prst="rect">
            <a:avLst/>
          </a:prstGeom>
          <a:noFill/>
        </p:spPr>
        <p:txBody>
          <a:bodyPr wrap="square" lIns="0" tIns="0" rIns="0" bIns="0">
            <a:spAutoFit/>
          </a:bodyPr>
          <a:lstStyle/>
          <a:p>
            <a:pPr>
              <a:spcAft>
                <a:spcPts val="800"/>
              </a:spcAft>
              <a:defRPr sz="3100" b="1">
                <a:solidFill>
                  <a:srgbClr val="122523"/>
                </a:solidFill>
                <a:latin typeface="맑은 고딕"/>
              </a:defRPr>
            </a:pPr>
            <a:r>
              <a:t>같은 단백질량으로 맞추면 비용은 최대 2.37배</a:t>
            </a:r>
          </a:p>
        </p:txBody>
      </p:sp>
      <p:sp>
        <p:nvSpPr>
          <p:cNvPr id="4" name="TextBox 3"/>
          <p:cNvSpPr txBox="1"/>
          <p:nvPr/>
        </p:nvSpPr>
        <p:spPr>
          <a:xfrm>
            <a:off x="530352" y="2039112"/>
            <a:ext cx="10972800" cy="530352"/>
          </a:xfrm>
          <a:prstGeom prst="rect">
            <a:avLst/>
          </a:prstGeom>
          <a:noFill/>
        </p:spPr>
        <p:txBody>
          <a:bodyPr wrap="square" lIns="0" tIns="0" rIns="0" bIns="0">
            <a:spAutoFit/>
          </a:bodyPr>
          <a:lstStyle/>
          <a:p>
            <a:pPr>
              <a:spcAft>
                <a:spcPts val="800"/>
              </a:spcAft>
              <a:defRPr sz="1300" b="0">
                <a:solidFill>
                  <a:srgbClr val="738177"/>
                </a:solidFill>
                <a:latin typeface="맑은 고딕"/>
              </a:defRPr>
            </a:pPr>
            <a:r>
              <a:t>선택한 판매 구성 중 배송비까지 확인한 최저 관측값</a:t>
            </a:r>
          </a:p>
        </p:txBody>
      </p:sp>
      <p:sp>
        <p:nvSpPr>
          <p:cNvPr id="5" name="TextBox 4"/>
          <p:cNvSpPr txBox="1"/>
          <p:nvPr/>
        </p:nvSpPr>
        <p:spPr>
          <a:xfrm>
            <a:off x="11018520" y="6428232"/>
            <a:ext cx="685800" cy="274320"/>
          </a:xfrm>
          <a:prstGeom prst="rect">
            <a:avLst/>
          </a:prstGeom>
          <a:noFill/>
        </p:spPr>
        <p:txBody>
          <a:bodyPr wrap="square" lIns="0" tIns="0" rIns="0" bIns="0">
            <a:spAutoFit/>
          </a:bodyPr>
          <a:lstStyle/>
          <a:p>
            <a:pPr>
              <a:spcAft>
                <a:spcPts val="800"/>
              </a:spcAft>
              <a:defRPr sz="1000" b="1">
                <a:solidFill>
                  <a:srgbClr val="122523"/>
                </a:solidFill>
                <a:latin typeface="맑은 고딕"/>
              </a:defRPr>
            </a:pPr>
            <a:r>
              <a:t>07 / 13</a:t>
            </a:r>
          </a:p>
        </p:txBody>
      </p:sp>
      <p:sp>
        <p:nvSpPr>
          <p:cNvPr id="6" name="TextBox 5"/>
          <p:cNvSpPr txBox="1"/>
          <p:nvPr/>
        </p:nvSpPr>
        <p:spPr>
          <a:xfrm>
            <a:off x="502920" y="6428232"/>
            <a:ext cx="10332720" cy="256032"/>
          </a:xfrm>
          <a:prstGeom prst="rect">
            <a:avLst/>
          </a:prstGeom>
          <a:noFill/>
        </p:spPr>
        <p:txBody>
          <a:bodyPr wrap="square" lIns="0" tIns="0" rIns="0" bIns="0">
            <a:spAutoFit/>
          </a:bodyPr>
          <a:lstStyle/>
          <a:p>
            <a:pPr>
              <a:spcAft>
                <a:spcPts val="800"/>
              </a:spcAft>
              <a:defRPr sz="800" b="0">
                <a:solidFill>
                  <a:srgbClr val="738177"/>
                </a:solidFill>
                <a:latin typeface="맑은 고딕"/>
              </a:defRPr>
            </a:pPr>
            <a:r>
              <a:t>D01 · D02 · D04 · D05 · D06 · C01 | 수집 2026.10.18 · 공개 표시값·관측 구성 한정</a:t>
            </a:r>
          </a:p>
        </p:txBody>
      </p:sp>
      <p:graphicFrame>
        <p:nvGraphicFramePr>
          <p:cNvPr id="7" name="Chart 6"/>
          <p:cNvGraphicFramePr>
            <a:graphicFrameLocks noGrp="1"/>
          </p:cNvGraphicFramePr>
          <p:nvPr/>
        </p:nvGraphicFramePr>
        <p:xfrm>
          <a:off x="548640" y="2743200"/>
          <a:ext cx="10881360" cy="32004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9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5E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74320"/>
          </a:xfrm>
          <a:prstGeom prst="rect">
            <a:avLst/>
          </a:prstGeom>
          <a:noFill/>
        </p:spPr>
        <p:txBody>
          <a:bodyPr wrap="square" lIns="0" tIns="0" rIns="0" bIns="0">
            <a:spAutoFit/>
          </a:bodyPr>
          <a:lstStyle/>
          <a:p>
            <a:pPr>
              <a:spcAft>
                <a:spcPts val="800"/>
              </a:spcAft>
              <a:defRPr sz="1000" b="1">
                <a:solidFill>
                  <a:srgbClr val="527858"/>
                </a:solidFill>
                <a:latin typeface="맑은 고딕"/>
              </a:defRPr>
            </a:pPr>
            <a:r>
              <a:t>NUTRITION EFFICIENCY</a:t>
            </a:r>
          </a:p>
        </p:txBody>
      </p:sp>
      <p:sp>
        <p:nvSpPr>
          <p:cNvPr id="3" name="TextBox 2"/>
          <p:cNvSpPr txBox="1"/>
          <p:nvPr/>
        </p:nvSpPr>
        <p:spPr>
          <a:xfrm>
            <a:off x="502920" y="960120"/>
            <a:ext cx="11064240" cy="1042415"/>
          </a:xfrm>
          <a:prstGeom prst="rect">
            <a:avLst/>
          </a:prstGeom>
          <a:noFill/>
        </p:spPr>
        <p:txBody>
          <a:bodyPr wrap="square" lIns="0" tIns="0" rIns="0" bIns="0">
            <a:spAutoFit/>
          </a:bodyPr>
          <a:lstStyle/>
          <a:p>
            <a:pPr>
              <a:spcAft>
                <a:spcPts val="800"/>
              </a:spcAft>
              <a:defRPr sz="3100" b="1">
                <a:solidFill>
                  <a:srgbClr val="122523"/>
                </a:solidFill>
                <a:latin typeface="맑은 고딕"/>
              </a:defRPr>
            </a:pPr>
            <a:r>
              <a:t>열량 대비 단백질은 셀렉스가 가장 높았다</a:t>
            </a:r>
          </a:p>
        </p:txBody>
      </p:sp>
      <p:sp>
        <p:nvSpPr>
          <p:cNvPr id="4" name="TextBox 3"/>
          <p:cNvSpPr txBox="1"/>
          <p:nvPr/>
        </p:nvSpPr>
        <p:spPr>
          <a:xfrm>
            <a:off x="530352" y="2039112"/>
            <a:ext cx="10972800" cy="530352"/>
          </a:xfrm>
          <a:prstGeom prst="rect">
            <a:avLst/>
          </a:prstGeom>
          <a:noFill/>
        </p:spPr>
        <p:txBody>
          <a:bodyPr wrap="square" lIns="0" tIns="0" rIns="0" bIns="0">
            <a:spAutoFit/>
          </a:bodyPr>
          <a:lstStyle/>
          <a:p>
            <a:pPr>
              <a:spcAft>
                <a:spcPts val="800"/>
              </a:spcAft>
              <a:defRPr sz="1300" b="0">
                <a:solidFill>
                  <a:srgbClr val="738177"/>
                </a:solidFill>
                <a:latin typeface="맑은 고딕"/>
              </a:defRPr>
            </a:pPr>
            <a:r>
              <a:t>가격 효율과 영양성분의 효율을 각각 보여준다</a:t>
            </a:r>
          </a:p>
        </p:txBody>
      </p:sp>
      <p:sp>
        <p:nvSpPr>
          <p:cNvPr id="5" name="TextBox 4"/>
          <p:cNvSpPr txBox="1"/>
          <p:nvPr/>
        </p:nvSpPr>
        <p:spPr>
          <a:xfrm>
            <a:off x="11018520" y="6428232"/>
            <a:ext cx="685800" cy="274320"/>
          </a:xfrm>
          <a:prstGeom prst="rect">
            <a:avLst/>
          </a:prstGeom>
          <a:noFill/>
        </p:spPr>
        <p:txBody>
          <a:bodyPr wrap="square" lIns="0" tIns="0" rIns="0" bIns="0">
            <a:spAutoFit/>
          </a:bodyPr>
          <a:lstStyle/>
          <a:p>
            <a:pPr>
              <a:spcAft>
                <a:spcPts val="800"/>
              </a:spcAft>
              <a:defRPr sz="1000" b="1">
                <a:solidFill>
                  <a:srgbClr val="122523"/>
                </a:solidFill>
                <a:latin typeface="맑은 고딕"/>
              </a:defRPr>
            </a:pPr>
            <a:r>
              <a:t>08 / 13</a:t>
            </a:r>
          </a:p>
        </p:txBody>
      </p:sp>
      <p:sp>
        <p:nvSpPr>
          <p:cNvPr id="6" name="TextBox 5"/>
          <p:cNvSpPr txBox="1"/>
          <p:nvPr/>
        </p:nvSpPr>
        <p:spPr>
          <a:xfrm>
            <a:off x="502920" y="6428232"/>
            <a:ext cx="10332720" cy="256032"/>
          </a:xfrm>
          <a:prstGeom prst="rect">
            <a:avLst/>
          </a:prstGeom>
          <a:noFill/>
        </p:spPr>
        <p:txBody>
          <a:bodyPr wrap="square" lIns="0" tIns="0" rIns="0" bIns="0">
            <a:spAutoFit/>
          </a:bodyPr>
          <a:lstStyle/>
          <a:p>
            <a:pPr>
              <a:spcAft>
                <a:spcPts val="800"/>
              </a:spcAft>
              <a:defRPr sz="800" b="0">
                <a:solidFill>
                  <a:srgbClr val="738177"/>
                </a:solidFill>
                <a:latin typeface="맑은 고딕"/>
              </a:defRPr>
            </a:pPr>
            <a:r>
              <a:t>D01 · D02 · D04 · D05 · D06 · M01 | 수집 2026.10.18 · 공개 표시값·관측 구성 한정</a:t>
            </a:r>
          </a:p>
        </p:txBody>
      </p:sp>
      <p:graphicFrame>
        <p:nvGraphicFramePr>
          <p:cNvPr id="7" name="Chart 6"/>
          <p:cNvGraphicFramePr>
            <a:graphicFrameLocks noGrp="1"/>
          </p:cNvGraphicFramePr>
          <p:nvPr/>
        </p:nvGraphicFramePr>
        <p:xfrm>
          <a:off x="548640" y="2743200"/>
          <a:ext cx="10881360" cy="32004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9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5E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74320"/>
          </a:xfrm>
          <a:prstGeom prst="rect">
            <a:avLst/>
          </a:prstGeom>
          <a:noFill/>
        </p:spPr>
        <p:txBody>
          <a:bodyPr wrap="square" lIns="0" tIns="0" rIns="0" bIns="0">
            <a:spAutoFit/>
          </a:bodyPr>
          <a:lstStyle/>
          <a:p>
            <a:pPr>
              <a:spcAft>
                <a:spcPts val="800"/>
              </a:spcAft>
              <a:defRPr sz="1000" b="1">
                <a:solidFill>
                  <a:srgbClr val="527858"/>
                </a:solidFill>
                <a:latin typeface="맑은 고딕"/>
              </a:defRPr>
            </a:pPr>
            <a:r>
              <a:t>WHAT QUALITY MEANS</a:t>
            </a:r>
          </a:p>
        </p:txBody>
      </p:sp>
      <p:sp>
        <p:nvSpPr>
          <p:cNvPr id="3" name="TextBox 2"/>
          <p:cNvSpPr txBox="1"/>
          <p:nvPr/>
        </p:nvSpPr>
        <p:spPr>
          <a:xfrm>
            <a:off x="502920" y="960120"/>
            <a:ext cx="11064240" cy="1042415"/>
          </a:xfrm>
          <a:prstGeom prst="rect">
            <a:avLst/>
          </a:prstGeom>
          <a:noFill/>
        </p:spPr>
        <p:txBody>
          <a:bodyPr wrap="square" lIns="0" tIns="0" rIns="0" bIns="0">
            <a:spAutoFit/>
          </a:bodyPr>
          <a:lstStyle/>
          <a:p>
            <a:pPr>
              <a:spcAft>
                <a:spcPts val="800"/>
              </a:spcAft>
              <a:defRPr sz="3100" b="1">
                <a:solidFill>
                  <a:srgbClr val="122523"/>
                </a:solidFill>
                <a:latin typeface="맑은 고딕"/>
              </a:defRPr>
            </a:pPr>
            <a:r>
              <a:t>상세 영양표까지 확인해야 누락을 줄일 수 있다</a:t>
            </a:r>
          </a:p>
        </p:txBody>
      </p:sp>
      <p:sp>
        <p:nvSpPr>
          <p:cNvPr id="4" name="TextBox 3"/>
          <p:cNvSpPr txBox="1"/>
          <p:nvPr/>
        </p:nvSpPr>
        <p:spPr>
          <a:xfrm>
            <a:off x="530352" y="2039112"/>
            <a:ext cx="10972800" cy="530352"/>
          </a:xfrm>
          <a:prstGeom prst="rect">
            <a:avLst/>
          </a:prstGeom>
          <a:noFill/>
        </p:spPr>
        <p:txBody>
          <a:bodyPr wrap="square" lIns="0" tIns="0" rIns="0" bIns="0">
            <a:spAutoFit/>
          </a:bodyPr>
          <a:lstStyle/>
          <a:p>
            <a:pPr>
              <a:spcAft>
                <a:spcPts val="800"/>
              </a:spcAft>
              <a:defRPr sz="1300" b="0">
                <a:solidFill>
                  <a:srgbClr val="738177"/>
                </a:solidFill>
                <a:latin typeface="맑은 고딕"/>
              </a:defRPr>
            </a:pPr>
            <a:r>
              <a:t>더단백 당류 0.8g 반영 · 상품 요약만 보고 미확보로 처리했던 오류 정정</a:t>
            </a:r>
          </a:p>
        </p:txBody>
      </p:sp>
      <p:sp>
        <p:nvSpPr>
          <p:cNvPr id="5" name="TextBox 4"/>
          <p:cNvSpPr txBox="1"/>
          <p:nvPr/>
        </p:nvSpPr>
        <p:spPr>
          <a:xfrm>
            <a:off x="11018520" y="6428232"/>
            <a:ext cx="685800" cy="274320"/>
          </a:xfrm>
          <a:prstGeom prst="rect">
            <a:avLst/>
          </a:prstGeom>
          <a:noFill/>
        </p:spPr>
        <p:txBody>
          <a:bodyPr wrap="square" lIns="0" tIns="0" rIns="0" bIns="0">
            <a:spAutoFit/>
          </a:bodyPr>
          <a:lstStyle/>
          <a:p>
            <a:pPr>
              <a:spcAft>
                <a:spcPts val="800"/>
              </a:spcAft>
              <a:defRPr sz="1000" b="1">
                <a:solidFill>
                  <a:srgbClr val="122523"/>
                </a:solidFill>
                <a:latin typeface="맑은 고딕"/>
              </a:defRPr>
            </a:pPr>
            <a:r>
              <a:t>09 / 13</a:t>
            </a:r>
          </a:p>
        </p:txBody>
      </p:sp>
      <p:sp>
        <p:nvSpPr>
          <p:cNvPr id="6" name="TextBox 5"/>
          <p:cNvSpPr txBox="1"/>
          <p:nvPr/>
        </p:nvSpPr>
        <p:spPr>
          <a:xfrm>
            <a:off x="502920" y="6428232"/>
            <a:ext cx="10332720" cy="256032"/>
          </a:xfrm>
          <a:prstGeom prst="rect">
            <a:avLst/>
          </a:prstGeom>
          <a:noFill/>
        </p:spPr>
        <p:txBody>
          <a:bodyPr wrap="square" lIns="0" tIns="0" rIns="0" bIns="0">
            <a:spAutoFit/>
          </a:bodyPr>
          <a:lstStyle/>
          <a:p>
            <a:pPr>
              <a:spcAft>
                <a:spcPts val="800"/>
              </a:spcAft>
              <a:defRPr sz="800" b="0">
                <a:solidFill>
                  <a:srgbClr val="738177"/>
                </a:solidFill>
                <a:latin typeface="맑은 고딕"/>
              </a:defRPr>
            </a:pPr>
            <a:r>
              <a:t>C02 · D02 · D04 · D05 · D06 · M01 | 수집 2026.10.18 · 공개 표시값·관측 구성 한정</a:t>
            </a:r>
          </a:p>
        </p:txBody>
      </p:sp>
      <p:sp>
        <p:nvSpPr>
          <p:cNvPr id="7" name="TextBox 6"/>
          <p:cNvSpPr txBox="1"/>
          <p:nvPr/>
        </p:nvSpPr>
        <p:spPr>
          <a:xfrm>
            <a:off x="640080" y="2834640"/>
            <a:ext cx="1645920" cy="320040"/>
          </a:xfrm>
          <a:prstGeom prst="rect">
            <a:avLst/>
          </a:prstGeom>
          <a:noFill/>
        </p:spPr>
        <p:txBody>
          <a:bodyPr wrap="square" lIns="0" tIns="0" rIns="0" bIns="0">
            <a:spAutoFit/>
          </a:bodyPr>
          <a:lstStyle/>
          <a:p>
            <a:pPr>
              <a:spcAft>
                <a:spcPts val="800"/>
              </a:spcAft>
              <a:defRPr sz="1500" b="1">
                <a:solidFill>
                  <a:srgbClr val="122523"/>
                </a:solidFill>
                <a:latin typeface="맑은 고딕"/>
              </a:defRPr>
            </a:pPr>
            <a:r>
              <a:t>그린비아</a:t>
            </a:r>
          </a:p>
        </p:txBody>
      </p:sp>
      <p:sp>
        <p:nvSpPr>
          <p:cNvPr id="8" name="TextBox 7"/>
          <p:cNvSpPr txBox="1"/>
          <p:nvPr/>
        </p:nvSpPr>
        <p:spPr>
          <a:xfrm>
            <a:off x="2286000" y="2834640"/>
            <a:ext cx="228600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단백질 20g</a:t>
            </a:r>
          </a:p>
        </p:txBody>
      </p:sp>
      <p:sp>
        <p:nvSpPr>
          <p:cNvPr id="9" name="TextBox 8"/>
          <p:cNvSpPr txBox="1"/>
          <p:nvPr/>
        </p:nvSpPr>
        <p:spPr>
          <a:xfrm>
            <a:off x="4754880" y="2834640"/>
            <a:ext cx="201168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120kcal</a:t>
            </a:r>
          </a:p>
        </p:txBody>
      </p:sp>
      <p:sp>
        <p:nvSpPr>
          <p:cNvPr id="10" name="TextBox 9"/>
          <p:cNvSpPr txBox="1"/>
          <p:nvPr/>
        </p:nvSpPr>
        <p:spPr>
          <a:xfrm>
            <a:off x="7315200" y="2834640"/>
            <a:ext cx="301752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당류 1g</a:t>
            </a:r>
          </a:p>
        </p:txBody>
      </p:sp>
      <p:sp>
        <p:nvSpPr>
          <p:cNvPr id="11" name="TextBox 10"/>
          <p:cNvSpPr txBox="1"/>
          <p:nvPr/>
        </p:nvSpPr>
        <p:spPr>
          <a:xfrm>
            <a:off x="640080" y="3319272"/>
            <a:ext cx="1645920" cy="320040"/>
          </a:xfrm>
          <a:prstGeom prst="rect">
            <a:avLst/>
          </a:prstGeom>
          <a:noFill/>
        </p:spPr>
        <p:txBody>
          <a:bodyPr wrap="square" lIns="0" tIns="0" rIns="0" bIns="0">
            <a:spAutoFit/>
          </a:bodyPr>
          <a:lstStyle/>
          <a:p>
            <a:pPr>
              <a:spcAft>
                <a:spcPts val="800"/>
              </a:spcAft>
              <a:defRPr sz="1500" b="1">
                <a:solidFill>
                  <a:srgbClr val="122523"/>
                </a:solidFill>
                <a:latin typeface="맑은 고딕"/>
              </a:defRPr>
            </a:pPr>
            <a:r>
              <a:t>더단백</a:t>
            </a:r>
          </a:p>
        </p:txBody>
      </p:sp>
      <p:sp>
        <p:nvSpPr>
          <p:cNvPr id="12" name="TextBox 11"/>
          <p:cNvSpPr txBox="1"/>
          <p:nvPr/>
        </p:nvSpPr>
        <p:spPr>
          <a:xfrm>
            <a:off x="2286000" y="3319272"/>
            <a:ext cx="228600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단백질 20g</a:t>
            </a:r>
          </a:p>
        </p:txBody>
      </p:sp>
      <p:sp>
        <p:nvSpPr>
          <p:cNvPr id="13" name="TextBox 12"/>
          <p:cNvSpPr txBox="1"/>
          <p:nvPr/>
        </p:nvSpPr>
        <p:spPr>
          <a:xfrm>
            <a:off x="4754880" y="3319272"/>
            <a:ext cx="201168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105kcal</a:t>
            </a:r>
          </a:p>
        </p:txBody>
      </p:sp>
      <p:sp>
        <p:nvSpPr>
          <p:cNvPr id="14" name="TextBox 13"/>
          <p:cNvSpPr txBox="1"/>
          <p:nvPr/>
        </p:nvSpPr>
        <p:spPr>
          <a:xfrm>
            <a:off x="7315200" y="3319272"/>
            <a:ext cx="301752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당류 0.8g</a:t>
            </a:r>
          </a:p>
        </p:txBody>
      </p:sp>
      <p:sp>
        <p:nvSpPr>
          <p:cNvPr id="15" name="TextBox 14"/>
          <p:cNvSpPr txBox="1"/>
          <p:nvPr/>
        </p:nvSpPr>
        <p:spPr>
          <a:xfrm>
            <a:off x="640080" y="3803904"/>
            <a:ext cx="1645920" cy="320040"/>
          </a:xfrm>
          <a:prstGeom prst="rect">
            <a:avLst/>
          </a:prstGeom>
          <a:noFill/>
        </p:spPr>
        <p:txBody>
          <a:bodyPr wrap="square" lIns="0" tIns="0" rIns="0" bIns="0">
            <a:spAutoFit/>
          </a:bodyPr>
          <a:lstStyle/>
          <a:p>
            <a:pPr>
              <a:spcAft>
                <a:spcPts val="800"/>
              </a:spcAft>
              <a:defRPr sz="1500" b="1">
                <a:solidFill>
                  <a:srgbClr val="122523"/>
                </a:solidFill>
                <a:latin typeface="맑은 고딕"/>
              </a:defRPr>
            </a:pPr>
            <a:r>
              <a:t>오트몬드</a:t>
            </a:r>
          </a:p>
        </p:txBody>
      </p:sp>
      <p:sp>
        <p:nvSpPr>
          <p:cNvPr id="16" name="TextBox 15"/>
          <p:cNvSpPr txBox="1"/>
          <p:nvPr/>
        </p:nvSpPr>
        <p:spPr>
          <a:xfrm>
            <a:off x="2286000" y="3803904"/>
            <a:ext cx="228600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단백질 21g</a:t>
            </a:r>
          </a:p>
        </p:txBody>
      </p:sp>
      <p:sp>
        <p:nvSpPr>
          <p:cNvPr id="17" name="TextBox 16"/>
          <p:cNvSpPr txBox="1"/>
          <p:nvPr/>
        </p:nvSpPr>
        <p:spPr>
          <a:xfrm>
            <a:off x="4754880" y="3803904"/>
            <a:ext cx="201168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107kcal</a:t>
            </a:r>
          </a:p>
        </p:txBody>
      </p:sp>
      <p:sp>
        <p:nvSpPr>
          <p:cNvPr id="18" name="TextBox 17"/>
          <p:cNvSpPr txBox="1"/>
          <p:nvPr/>
        </p:nvSpPr>
        <p:spPr>
          <a:xfrm>
            <a:off x="7315200" y="3803904"/>
            <a:ext cx="301752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당류 0g</a:t>
            </a:r>
          </a:p>
        </p:txBody>
      </p:sp>
      <p:sp>
        <p:nvSpPr>
          <p:cNvPr id="19" name="TextBox 18"/>
          <p:cNvSpPr txBox="1"/>
          <p:nvPr/>
        </p:nvSpPr>
        <p:spPr>
          <a:xfrm>
            <a:off x="640080" y="4288536"/>
            <a:ext cx="1645920" cy="320040"/>
          </a:xfrm>
          <a:prstGeom prst="rect">
            <a:avLst/>
          </a:prstGeom>
          <a:noFill/>
        </p:spPr>
        <p:txBody>
          <a:bodyPr wrap="square" lIns="0" tIns="0" rIns="0" bIns="0">
            <a:spAutoFit/>
          </a:bodyPr>
          <a:lstStyle/>
          <a:p>
            <a:pPr>
              <a:spcAft>
                <a:spcPts val="800"/>
              </a:spcAft>
              <a:defRPr sz="1500" b="1">
                <a:solidFill>
                  <a:srgbClr val="122523"/>
                </a:solidFill>
                <a:latin typeface="맑은 고딕"/>
              </a:defRPr>
            </a:pPr>
            <a:r>
              <a:t>마이밀</a:t>
            </a:r>
          </a:p>
        </p:txBody>
      </p:sp>
      <p:sp>
        <p:nvSpPr>
          <p:cNvPr id="20" name="TextBox 19"/>
          <p:cNvSpPr txBox="1"/>
          <p:nvPr/>
        </p:nvSpPr>
        <p:spPr>
          <a:xfrm>
            <a:off x="2286000" y="4288536"/>
            <a:ext cx="228600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단백질 20g</a:t>
            </a:r>
          </a:p>
        </p:txBody>
      </p:sp>
      <p:sp>
        <p:nvSpPr>
          <p:cNvPr id="21" name="TextBox 20"/>
          <p:cNvSpPr txBox="1"/>
          <p:nvPr/>
        </p:nvSpPr>
        <p:spPr>
          <a:xfrm>
            <a:off x="4754880" y="4288536"/>
            <a:ext cx="201168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130kcal</a:t>
            </a:r>
          </a:p>
        </p:txBody>
      </p:sp>
      <p:sp>
        <p:nvSpPr>
          <p:cNvPr id="22" name="TextBox 21"/>
          <p:cNvSpPr txBox="1"/>
          <p:nvPr/>
        </p:nvSpPr>
        <p:spPr>
          <a:xfrm>
            <a:off x="7315200" y="4288536"/>
            <a:ext cx="301752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상세 라벨 미검증</a:t>
            </a:r>
          </a:p>
        </p:txBody>
      </p:sp>
      <p:sp>
        <p:nvSpPr>
          <p:cNvPr id="23" name="TextBox 22"/>
          <p:cNvSpPr txBox="1"/>
          <p:nvPr/>
        </p:nvSpPr>
        <p:spPr>
          <a:xfrm>
            <a:off x="640080" y="4773168"/>
            <a:ext cx="1645920" cy="320040"/>
          </a:xfrm>
          <a:prstGeom prst="rect">
            <a:avLst/>
          </a:prstGeom>
          <a:noFill/>
        </p:spPr>
        <p:txBody>
          <a:bodyPr wrap="square" lIns="0" tIns="0" rIns="0" bIns="0">
            <a:spAutoFit/>
          </a:bodyPr>
          <a:lstStyle/>
          <a:p>
            <a:pPr>
              <a:spcAft>
                <a:spcPts val="800"/>
              </a:spcAft>
              <a:defRPr sz="1500" b="1">
                <a:solidFill>
                  <a:srgbClr val="122523"/>
                </a:solidFill>
                <a:latin typeface="맑은 고딕"/>
              </a:defRPr>
            </a:pPr>
            <a:r>
              <a:t>셀렉스</a:t>
            </a:r>
          </a:p>
        </p:txBody>
      </p:sp>
      <p:sp>
        <p:nvSpPr>
          <p:cNvPr id="24" name="TextBox 23"/>
          <p:cNvSpPr txBox="1"/>
          <p:nvPr/>
        </p:nvSpPr>
        <p:spPr>
          <a:xfrm>
            <a:off x="2286000" y="4773168"/>
            <a:ext cx="228600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단백질 20g</a:t>
            </a:r>
          </a:p>
        </p:txBody>
      </p:sp>
      <p:sp>
        <p:nvSpPr>
          <p:cNvPr id="25" name="TextBox 24"/>
          <p:cNvSpPr txBox="1"/>
          <p:nvPr/>
        </p:nvSpPr>
        <p:spPr>
          <a:xfrm>
            <a:off x="4754880" y="4773168"/>
            <a:ext cx="201168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99kcal</a:t>
            </a:r>
          </a:p>
        </p:txBody>
      </p:sp>
      <p:sp>
        <p:nvSpPr>
          <p:cNvPr id="26" name="TextBox 25"/>
          <p:cNvSpPr txBox="1"/>
          <p:nvPr/>
        </p:nvSpPr>
        <p:spPr>
          <a:xfrm>
            <a:off x="7315200" y="4773168"/>
            <a:ext cx="3017520" cy="320040"/>
          </a:xfrm>
          <a:prstGeom prst="rect">
            <a:avLst/>
          </a:prstGeom>
          <a:noFill/>
        </p:spPr>
        <p:txBody>
          <a:bodyPr wrap="square" lIns="0" tIns="0" rIns="0" bIns="0">
            <a:spAutoFit/>
          </a:bodyPr>
          <a:lstStyle/>
          <a:p>
            <a:pPr>
              <a:spcAft>
                <a:spcPts val="800"/>
              </a:spcAft>
              <a:defRPr sz="1500" b="0">
                <a:solidFill>
                  <a:srgbClr val="122523"/>
                </a:solidFill>
                <a:latin typeface="맑은 고딕"/>
              </a:defRPr>
            </a:pPr>
            <a:r>
              <a:t>당류 0g</a:t>
            </a:r>
          </a:p>
        </p:txBody>
      </p:sp>
      <p:sp>
        <p:nvSpPr>
          <p:cNvPr id="27" name="TextBox 26"/>
          <p:cNvSpPr txBox="1"/>
          <p:nvPr/>
        </p:nvSpPr>
        <p:spPr>
          <a:xfrm>
            <a:off x="640080" y="5715000"/>
            <a:ext cx="10881360" cy="457200"/>
          </a:xfrm>
          <a:prstGeom prst="rect">
            <a:avLst/>
          </a:prstGeom>
          <a:noFill/>
        </p:spPr>
        <p:txBody>
          <a:bodyPr wrap="square" lIns="0" tIns="0" rIns="0" bIns="0">
            <a:spAutoFit/>
          </a:bodyPr>
          <a:lstStyle/>
          <a:p>
            <a:pPr>
              <a:spcAft>
                <a:spcPts val="800"/>
              </a:spcAft>
              <a:defRPr sz="1100" b="0">
                <a:solidFill>
                  <a:srgbClr val="738177"/>
                </a:solidFill>
                <a:latin typeface="맑은 고딕"/>
              </a:defRPr>
            </a:pPr>
            <a:r>
              <a:t>셀렉스: WPI 사용 공식 안내 / 마이밀: 대두·완두·귀리 표기(재게시). 원료 유형은 우열 점수가 아니다.</a:t>
            </a:r>
          </a:p>
        </p:txBody>
      </p:sp>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5E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74320"/>
          </a:xfrm>
          <a:prstGeom prst="rect">
            <a:avLst/>
          </a:prstGeom>
          <a:noFill/>
        </p:spPr>
        <p:txBody>
          <a:bodyPr wrap="square" lIns="0" tIns="0" rIns="0" bIns="0">
            <a:spAutoFit/>
          </a:bodyPr>
          <a:lstStyle/>
          <a:p>
            <a:pPr>
              <a:spcAft>
                <a:spcPts val="800"/>
              </a:spcAft>
              <a:defRPr sz="1000" b="1">
                <a:solidFill>
                  <a:srgbClr val="527858"/>
                </a:solidFill>
                <a:latin typeface="맑은 고딕"/>
              </a:defRPr>
            </a:pPr>
            <a:r>
              <a:t>A TRADE-OFF, NOT A MAGIC SCORE</a:t>
            </a:r>
          </a:p>
        </p:txBody>
      </p:sp>
      <p:sp>
        <p:nvSpPr>
          <p:cNvPr id="3" name="TextBox 2"/>
          <p:cNvSpPr txBox="1"/>
          <p:nvPr/>
        </p:nvSpPr>
        <p:spPr>
          <a:xfrm>
            <a:off x="502920" y="960120"/>
            <a:ext cx="11064240" cy="1042415"/>
          </a:xfrm>
          <a:prstGeom prst="rect">
            <a:avLst/>
          </a:prstGeom>
          <a:noFill/>
        </p:spPr>
        <p:txBody>
          <a:bodyPr wrap="square" lIns="0" tIns="0" rIns="0" bIns="0">
            <a:spAutoFit/>
          </a:bodyPr>
          <a:lstStyle/>
          <a:p>
            <a:pPr>
              <a:spcAft>
                <a:spcPts val="800"/>
              </a:spcAft>
              <a:defRPr sz="3100" b="1">
                <a:solidFill>
                  <a:srgbClr val="122523"/>
                </a:solidFill>
                <a:latin typeface="맑은 고딕"/>
              </a:defRPr>
            </a:pPr>
            <a:r>
              <a:t>최저 비용과 최소 열량은 같은 선택이 아니다</a:t>
            </a:r>
          </a:p>
        </p:txBody>
      </p:sp>
      <p:sp>
        <p:nvSpPr>
          <p:cNvPr id="4" name="TextBox 3"/>
          <p:cNvSpPr txBox="1"/>
          <p:nvPr/>
        </p:nvSpPr>
        <p:spPr>
          <a:xfrm>
            <a:off x="530352" y="2039112"/>
            <a:ext cx="10972800" cy="530352"/>
          </a:xfrm>
          <a:prstGeom prst="rect">
            <a:avLst/>
          </a:prstGeom>
          <a:noFill/>
        </p:spPr>
        <p:txBody>
          <a:bodyPr wrap="square" lIns="0" tIns="0" rIns="0" bIns="0">
            <a:spAutoFit/>
          </a:bodyPr>
          <a:lstStyle/>
          <a:p>
            <a:pPr>
              <a:spcAft>
                <a:spcPts val="800"/>
              </a:spcAft>
              <a:defRPr sz="1300" b="0">
                <a:solidFill>
                  <a:srgbClr val="738177"/>
                </a:solidFill>
                <a:latin typeface="맑은 고딕"/>
              </a:defRPr>
            </a:pPr>
            <a:r>
              <a:t>왼쪽은 저렴함 · 아래쪽은 같은 단백질량에서 열량이 낮음</a:t>
            </a:r>
          </a:p>
        </p:txBody>
      </p:sp>
      <p:sp>
        <p:nvSpPr>
          <p:cNvPr id="5" name="TextBox 4"/>
          <p:cNvSpPr txBox="1"/>
          <p:nvPr/>
        </p:nvSpPr>
        <p:spPr>
          <a:xfrm>
            <a:off x="11018520" y="6428232"/>
            <a:ext cx="685800" cy="274320"/>
          </a:xfrm>
          <a:prstGeom prst="rect">
            <a:avLst/>
          </a:prstGeom>
          <a:noFill/>
        </p:spPr>
        <p:txBody>
          <a:bodyPr wrap="square" lIns="0" tIns="0" rIns="0" bIns="0">
            <a:spAutoFit/>
          </a:bodyPr>
          <a:lstStyle/>
          <a:p>
            <a:pPr>
              <a:spcAft>
                <a:spcPts val="800"/>
              </a:spcAft>
              <a:defRPr sz="1000" b="1">
                <a:solidFill>
                  <a:srgbClr val="122523"/>
                </a:solidFill>
                <a:latin typeface="맑은 고딕"/>
              </a:defRPr>
            </a:pPr>
            <a:r>
              <a:t>10 / 13</a:t>
            </a:r>
          </a:p>
        </p:txBody>
      </p:sp>
      <p:sp>
        <p:nvSpPr>
          <p:cNvPr id="6" name="TextBox 5"/>
          <p:cNvSpPr txBox="1"/>
          <p:nvPr/>
        </p:nvSpPr>
        <p:spPr>
          <a:xfrm>
            <a:off x="502920" y="6428232"/>
            <a:ext cx="10332720" cy="256032"/>
          </a:xfrm>
          <a:prstGeom prst="rect">
            <a:avLst/>
          </a:prstGeom>
          <a:noFill/>
        </p:spPr>
        <p:txBody>
          <a:bodyPr wrap="square" lIns="0" tIns="0" rIns="0" bIns="0">
            <a:spAutoFit/>
          </a:bodyPr>
          <a:lstStyle/>
          <a:p>
            <a:pPr>
              <a:spcAft>
                <a:spcPts val="800"/>
              </a:spcAft>
              <a:defRPr sz="800" b="0">
                <a:solidFill>
                  <a:srgbClr val="738177"/>
                </a:solidFill>
                <a:latin typeface="맑은 고딕"/>
              </a:defRPr>
            </a:pPr>
            <a:r>
              <a:t>D01 · D02 · D04 · D05 · D06 · C01 · M01 | 수집 2026.10.18 · 공개 표시값·관측 구성 한정</a:t>
            </a:r>
          </a:p>
        </p:txBody>
      </p:sp>
      <p:pic>
        <p:nvPicPr>
          <p:cNvPr id="7" name="Picture 6" descr="04_tradeoff.png"/>
          <p:cNvPicPr>
            <a:picLocks noChangeAspect="1"/>
          </p:cNvPicPr>
          <p:nvPr/>
        </p:nvPicPr>
        <p:blipFill>
          <a:blip r:embed="rId3"/>
          <a:stretch>
            <a:fillRect/>
          </a:stretch>
        </p:blipFill>
        <p:spPr>
          <a:xfrm>
            <a:off x="640080" y="2743200"/>
            <a:ext cx="10698480" cy="33832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5E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74320"/>
          </a:xfrm>
          <a:prstGeom prst="rect">
            <a:avLst/>
          </a:prstGeom>
          <a:noFill/>
        </p:spPr>
        <p:txBody>
          <a:bodyPr wrap="square" lIns="0" tIns="0" rIns="0" bIns="0">
            <a:spAutoFit/>
          </a:bodyPr>
          <a:lstStyle/>
          <a:p>
            <a:pPr>
              <a:spcAft>
                <a:spcPts val="800"/>
              </a:spcAft>
              <a:defRPr sz="1000" b="1">
                <a:solidFill>
                  <a:srgbClr val="527858"/>
                </a:solidFill>
                <a:latin typeface="맑은 고딕"/>
              </a:defRPr>
            </a:pPr>
            <a:r>
              <a:t>INDEPENDENT TEST / 2023</a:t>
            </a:r>
          </a:p>
        </p:txBody>
      </p:sp>
      <p:sp>
        <p:nvSpPr>
          <p:cNvPr id="3" name="TextBox 2"/>
          <p:cNvSpPr txBox="1"/>
          <p:nvPr/>
        </p:nvSpPr>
        <p:spPr>
          <a:xfrm>
            <a:off x="502920" y="960120"/>
            <a:ext cx="11064240" cy="1042415"/>
          </a:xfrm>
          <a:prstGeom prst="rect">
            <a:avLst/>
          </a:prstGeom>
          <a:noFill/>
        </p:spPr>
        <p:txBody>
          <a:bodyPr wrap="square" lIns="0" tIns="0" rIns="0" bIns="0">
            <a:spAutoFit/>
          </a:bodyPr>
          <a:lstStyle/>
          <a:p>
            <a:pPr>
              <a:spcAft>
                <a:spcPts val="800"/>
              </a:spcAft>
              <a:defRPr sz="3100" b="1">
                <a:solidFill>
                  <a:srgbClr val="122523"/>
                </a:solidFill>
                <a:latin typeface="맑은 고딕"/>
              </a:defRPr>
            </a:pPr>
            <a:r>
              <a:t>과거 시험에서도 가격이 곧 품질 지표는 아니었다</a:t>
            </a:r>
          </a:p>
        </p:txBody>
      </p:sp>
      <p:sp>
        <p:nvSpPr>
          <p:cNvPr id="4" name="TextBox 3"/>
          <p:cNvSpPr txBox="1"/>
          <p:nvPr/>
        </p:nvSpPr>
        <p:spPr>
          <a:xfrm>
            <a:off x="530352" y="2039112"/>
            <a:ext cx="10972800" cy="530352"/>
          </a:xfrm>
          <a:prstGeom prst="rect">
            <a:avLst/>
          </a:prstGeom>
          <a:noFill/>
        </p:spPr>
        <p:txBody>
          <a:bodyPr wrap="square" lIns="0" tIns="0" rIns="0" bIns="0">
            <a:spAutoFit/>
          </a:bodyPr>
          <a:lstStyle/>
          <a:p>
            <a:pPr>
              <a:spcAft>
                <a:spcPts val="800"/>
              </a:spcAft>
              <a:defRPr sz="1300" b="0">
                <a:solidFill>
                  <a:srgbClr val="738177"/>
                </a:solidFill>
                <a:latin typeface="맑은 고딕"/>
              </a:defRPr>
            </a:pPr>
            <a:r>
              <a:t>한국소비자원 16개 제품 시험 · 2023년 자료, 현재 순위와 분리</a:t>
            </a:r>
          </a:p>
        </p:txBody>
      </p:sp>
      <p:sp>
        <p:nvSpPr>
          <p:cNvPr id="5" name="TextBox 4"/>
          <p:cNvSpPr txBox="1"/>
          <p:nvPr/>
        </p:nvSpPr>
        <p:spPr>
          <a:xfrm>
            <a:off x="11018520" y="6428232"/>
            <a:ext cx="685800" cy="274320"/>
          </a:xfrm>
          <a:prstGeom prst="rect">
            <a:avLst/>
          </a:prstGeom>
          <a:noFill/>
        </p:spPr>
        <p:txBody>
          <a:bodyPr wrap="square" lIns="0" tIns="0" rIns="0" bIns="0">
            <a:spAutoFit/>
          </a:bodyPr>
          <a:lstStyle/>
          <a:p>
            <a:pPr>
              <a:spcAft>
                <a:spcPts val="800"/>
              </a:spcAft>
              <a:defRPr sz="1000" b="1">
                <a:solidFill>
                  <a:srgbClr val="122523"/>
                </a:solidFill>
                <a:latin typeface="맑은 고딕"/>
              </a:defRPr>
            </a:pPr>
            <a:r>
              <a:t>11 / 13</a:t>
            </a:r>
          </a:p>
        </p:txBody>
      </p:sp>
      <p:sp>
        <p:nvSpPr>
          <p:cNvPr id="6" name="TextBox 5"/>
          <p:cNvSpPr txBox="1"/>
          <p:nvPr/>
        </p:nvSpPr>
        <p:spPr>
          <a:xfrm>
            <a:off x="502920" y="6428232"/>
            <a:ext cx="10332720" cy="256032"/>
          </a:xfrm>
          <a:prstGeom prst="rect">
            <a:avLst/>
          </a:prstGeom>
          <a:noFill/>
        </p:spPr>
        <p:txBody>
          <a:bodyPr wrap="square" lIns="0" tIns="0" rIns="0" bIns="0">
            <a:spAutoFit/>
          </a:bodyPr>
          <a:lstStyle/>
          <a:p>
            <a:pPr>
              <a:spcAft>
                <a:spcPts val="800"/>
              </a:spcAft>
              <a:defRPr sz="800" b="0">
                <a:solidFill>
                  <a:srgbClr val="738177"/>
                </a:solidFill>
                <a:latin typeface="맑은 고딕"/>
              </a:defRPr>
            </a:pPr>
            <a:r>
              <a:t>K01 | 수집 2026.10.18 · 공개 표시값·관측 구성 한정</a:t>
            </a:r>
          </a:p>
        </p:txBody>
      </p:sp>
      <p:pic>
        <p:nvPicPr>
          <p:cNvPr id="7" name="Picture 6" descr="06_lab2023.png"/>
          <p:cNvPicPr>
            <a:picLocks noChangeAspect="1"/>
          </p:cNvPicPr>
          <p:nvPr/>
        </p:nvPicPr>
        <p:blipFill>
          <a:blip r:embed="rId3"/>
          <a:stretch>
            <a:fillRect/>
          </a:stretch>
        </p:blipFill>
        <p:spPr>
          <a:xfrm>
            <a:off x="640080" y="2743200"/>
            <a:ext cx="10698480" cy="33832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22523"/>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74320"/>
          </a:xfrm>
          <a:prstGeom prst="rect">
            <a:avLst/>
          </a:prstGeom>
          <a:noFill/>
        </p:spPr>
        <p:txBody>
          <a:bodyPr wrap="square" lIns="0" tIns="0" rIns="0" bIns="0">
            <a:spAutoFit/>
          </a:bodyPr>
          <a:lstStyle/>
          <a:p>
            <a:pPr>
              <a:spcAft>
                <a:spcPts val="800"/>
              </a:spcAft>
              <a:defRPr sz="1000" b="1">
                <a:solidFill>
                  <a:srgbClr val="C8E85B"/>
                </a:solidFill>
                <a:latin typeface="맑은 고딕"/>
              </a:defRPr>
            </a:pPr>
            <a:r>
              <a:t>BUY BY YOUR PRIORITY</a:t>
            </a:r>
          </a:p>
        </p:txBody>
      </p:sp>
      <p:sp>
        <p:nvSpPr>
          <p:cNvPr id="3" name="TextBox 2"/>
          <p:cNvSpPr txBox="1"/>
          <p:nvPr/>
        </p:nvSpPr>
        <p:spPr>
          <a:xfrm>
            <a:off x="502920" y="960120"/>
            <a:ext cx="11064240" cy="1042415"/>
          </a:xfrm>
          <a:prstGeom prst="rect">
            <a:avLst/>
          </a:prstGeom>
          <a:noFill/>
        </p:spPr>
        <p:txBody>
          <a:bodyPr wrap="square" lIns="0" tIns="0" rIns="0" bIns="0">
            <a:spAutoFit/>
          </a:bodyPr>
          <a:lstStyle/>
          <a:p>
            <a:pPr>
              <a:spcAft>
                <a:spcPts val="800"/>
              </a:spcAft>
              <a:defRPr sz="3100" b="1">
                <a:solidFill>
                  <a:srgbClr val="F3F5EB"/>
                </a:solidFill>
                <a:latin typeface="맑은 고딕"/>
              </a:defRPr>
            </a:pPr>
            <a:r>
              <a:t>가성비는 ‘내가 무엇을 비교하느냐’에서 갈린다</a:t>
            </a:r>
          </a:p>
        </p:txBody>
      </p:sp>
      <p:sp>
        <p:nvSpPr>
          <p:cNvPr id="4" name="TextBox 3"/>
          <p:cNvSpPr txBox="1"/>
          <p:nvPr/>
        </p:nvSpPr>
        <p:spPr>
          <a:xfrm>
            <a:off x="530352" y="2039112"/>
            <a:ext cx="10972800" cy="530352"/>
          </a:xfrm>
          <a:prstGeom prst="rect">
            <a:avLst/>
          </a:prstGeom>
          <a:noFill/>
        </p:spPr>
        <p:txBody>
          <a:bodyPr wrap="square" lIns="0" tIns="0" rIns="0" bIns="0">
            <a:spAutoFit/>
          </a:bodyPr>
          <a:lstStyle/>
          <a:p>
            <a:pPr>
              <a:spcAft>
                <a:spcPts val="800"/>
              </a:spcAft>
              <a:defRPr sz="1300" b="0">
                <a:solidFill>
                  <a:srgbClr val="B8C5B6"/>
                </a:solidFill>
                <a:latin typeface="맑은 고딕"/>
              </a:defRPr>
            </a:pPr>
            <a:r>
              <a:t>가격은 20g당 비용, 성분은 별도 지표로 판단한다</a:t>
            </a:r>
          </a:p>
        </p:txBody>
      </p:sp>
      <p:sp>
        <p:nvSpPr>
          <p:cNvPr id="5" name="TextBox 4"/>
          <p:cNvSpPr txBox="1"/>
          <p:nvPr/>
        </p:nvSpPr>
        <p:spPr>
          <a:xfrm>
            <a:off x="11018520" y="6428232"/>
            <a:ext cx="685800" cy="274320"/>
          </a:xfrm>
          <a:prstGeom prst="rect">
            <a:avLst/>
          </a:prstGeom>
          <a:noFill/>
        </p:spPr>
        <p:txBody>
          <a:bodyPr wrap="square" lIns="0" tIns="0" rIns="0" bIns="0">
            <a:spAutoFit/>
          </a:bodyPr>
          <a:lstStyle/>
          <a:p>
            <a:pPr>
              <a:spcAft>
                <a:spcPts val="800"/>
              </a:spcAft>
              <a:defRPr sz="1000" b="1">
                <a:solidFill>
                  <a:srgbClr val="F3F5EB"/>
                </a:solidFill>
                <a:latin typeface="맑은 고딕"/>
              </a:defRPr>
            </a:pPr>
            <a:r>
              <a:t>12 / 13</a:t>
            </a:r>
          </a:p>
        </p:txBody>
      </p:sp>
      <p:sp>
        <p:nvSpPr>
          <p:cNvPr id="6" name="TextBox 5"/>
          <p:cNvSpPr txBox="1"/>
          <p:nvPr/>
        </p:nvSpPr>
        <p:spPr>
          <a:xfrm>
            <a:off x="502920" y="6428232"/>
            <a:ext cx="10332720" cy="256032"/>
          </a:xfrm>
          <a:prstGeom prst="rect">
            <a:avLst/>
          </a:prstGeom>
          <a:noFill/>
        </p:spPr>
        <p:txBody>
          <a:bodyPr wrap="square" lIns="0" tIns="0" rIns="0" bIns="0">
            <a:spAutoFit/>
          </a:bodyPr>
          <a:lstStyle/>
          <a:p>
            <a:pPr>
              <a:spcAft>
                <a:spcPts val="800"/>
              </a:spcAft>
              <a:defRPr sz="800" b="0">
                <a:solidFill>
                  <a:srgbClr val="B8C5B6"/>
                </a:solidFill>
                <a:latin typeface="맑은 고딕"/>
              </a:defRPr>
            </a:pPr>
            <a:r>
              <a:t>D01 · D02 · D04 · D05 · D06 · C01 · M01 | 수집 2026.10.18 · 공개 표시값·관측 구성 한정</a:t>
            </a:r>
          </a:p>
        </p:txBody>
      </p:sp>
      <p:sp>
        <p:nvSpPr>
          <p:cNvPr id="7" name="Rectangle 6"/>
          <p:cNvSpPr/>
          <p:nvPr/>
        </p:nvSpPr>
        <p:spPr>
          <a:xfrm>
            <a:off x="548640" y="3017520"/>
            <a:ext cx="3639312" cy="2514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200400"/>
            <a:ext cx="3236976" cy="320040"/>
          </a:xfrm>
          <a:prstGeom prst="rect">
            <a:avLst/>
          </a:prstGeom>
          <a:noFill/>
        </p:spPr>
        <p:txBody>
          <a:bodyPr wrap="square" lIns="0" tIns="0" rIns="0" bIns="0">
            <a:spAutoFit/>
          </a:bodyPr>
          <a:lstStyle/>
          <a:p>
            <a:pPr>
              <a:spcAft>
                <a:spcPts val="800"/>
              </a:spcAft>
              <a:defRPr sz="1000" b="1">
                <a:solidFill>
                  <a:srgbClr val="527858"/>
                </a:solidFill>
                <a:latin typeface="맑은 고딕"/>
              </a:defRPr>
            </a:pPr>
            <a:r>
              <a:t>COST FIRST</a:t>
            </a:r>
          </a:p>
        </p:txBody>
      </p:sp>
      <p:sp>
        <p:nvSpPr>
          <p:cNvPr id="9" name="TextBox 8"/>
          <p:cNvSpPr txBox="1"/>
          <p:nvPr/>
        </p:nvSpPr>
        <p:spPr>
          <a:xfrm>
            <a:off x="749808" y="3675887"/>
            <a:ext cx="3236976" cy="731520"/>
          </a:xfrm>
          <a:prstGeom prst="rect">
            <a:avLst/>
          </a:prstGeom>
          <a:noFill/>
        </p:spPr>
        <p:txBody>
          <a:bodyPr wrap="square" lIns="0" tIns="0" rIns="0" bIns="0">
            <a:spAutoFit/>
          </a:bodyPr>
          <a:lstStyle/>
          <a:p>
            <a:pPr>
              <a:spcAft>
                <a:spcPts val="800"/>
              </a:spcAft>
              <a:defRPr sz="2700" b="1">
                <a:solidFill>
                  <a:srgbClr val="122523"/>
                </a:solidFill>
                <a:latin typeface="맑은 고딕"/>
              </a:defRPr>
            </a:pPr>
            <a:r>
              <a:t>그린비아</a:t>
            </a:r>
          </a:p>
        </p:txBody>
      </p:sp>
      <p:sp>
        <p:nvSpPr>
          <p:cNvPr id="10" name="TextBox 9"/>
          <p:cNvSpPr txBox="1"/>
          <p:nvPr/>
        </p:nvSpPr>
        <p:spPr>
          <a:xfrm>
            <a:off x="749808" y="4572000"/>
            <a:ext cx="3236976" cy="822960"/>
          </a:xfrm>
          <a:prstGeom prst="rect">
            <a:avLst/>
          </a:prstGeom>
          <a:noFill/>
        </p:spPr>
        <p:txBody>
          <a:bodyPr wrap="square" lIns="0" tIns="0" rIns="0" bIns="0">
            <a:spAutoFit/>
          </a:bodyPr>
          <a:lstStyle/>
          <a:p>
            <a:pPr>
              <a:spcAft>
                <a:spcPts val="800"/>
              </a:spcAft>
              <a:defRPr sz="1500" b="0">
                <a:solidFill>
                  <a:srgbClr val="738177"/>
                </a:solidFill>
                <a:latin typeface="맑은 고딕"/>
              </a:defRPr>
            </a:pPr>
            <a:r>
              <a:t>관측 구성 중 20g당 약 1,052원</a:t>
            </a:r>
          </a:p>
        </p:txBody>
      </p:sp>
      <p:sp>
        <p:nvSpPr>
          <p:cNvPr id="11" name="Rectangle 10"/>
          <p:cNvSpPr/>
          <p:nvPr/>
        </p:nvSpPr>
        <p:spPr>
          <a:xfrm>
            <a:off x="4389120" y="3017520"/>
            <a:ext cx="3639312" cy="2514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3200400"/>
            <a:ext cx="3236976" cy="320040"/>
          </a:xfrm>
          <a:prstGeom prst="rect">
            <a:avLst/>
          </a:prstGeom>
          <a:noFill/>
        </p:spPr>
        <p:txBody>
          <a:bodyPr wrap="square" lIns="0" tIns="0" rIns="0" bIns="0">
            <a:spAutoFit/>
          </a:bodyPr>
          <a:lstStyle/>
          <a:p>
            <a:pPr>
              <a:spcAft>
                <a:spcPts val="800"/>
              </a:spcAft>
              <a:defRPr sz="1000" b="1">
                <a:solidFill>
                  <a:srgbClr val="527858"/>
                </a:solidFill>
                <a:latin typeface="맑은 고딕"/>
              </a:defRPr>
            </a:pPr>
            <a:r>
              <a:t>ENERGY FIRST</a:t>
            </a:r>
          </a:p>
        </p:txBody>
      </p:sp>
      <p:sp>
        <p:nvSpPr>
          <p:cNvPr id="13" name="TextBox 12"/>
          <p:cNvSpPr txBox="1"/>
          <p:nvPr/>
        </p:nvSpPr>
        <p:spPr>
          <a:xfrm>
            <a:off x="4590288" y="3675887"/>
            <a:ext cx="3236976" cy="731520"/>
          </a:xfrm>
          <a:prstGeom prst="rect">
            <a:avLst/>
          </a:prstGeom>
          <a:noFill/>
        </p:spPr>
        <p:txBody>
          <a:bodyPr wrap="square" lIns="0" tIns="0" rIns="0" bIns="0">
            <a:spAutoFit/>
          </a:bodyPr>
          <a:lstStyle/>
          <a:p>
            <a:pPr>
              <a:spcAft>
                <a:spcPts val="800"/>
              </a:spcAft>
              <a:defRPr sz="2700" b="1">
                <a:solidFill>
                  <a:srgbClr val="122523"/>
                </a:solidFill>
                <a:latin typeface="맑은 고딕"/>
              </a:defRPr>
            </a:pPr>
            <a:r>
              <a:t>셀렉스</a:t>
            </a:r>
          </a:p>
        </p:txBody>
      </p:sp>
      <p:sp>
        <p:nvSpPr>
          <p:cNvPr id="14" name="TextBox 13"/>
          <p:cNvSpPr txBox="1"/>
          <p:nvPr/>
        </p:nvSpPr>
        <p:spPr>
          <a:xfrm>
            <a:off x="4590288" y="4572000"/>
            <a:ext cx="3236976" cy="822960"/>
          </a:xfrm>
          <a:prstGeom prst="rect">
            <a:avLst/>
          </a:prstGeom>
          <a:noFill/>
        </p:spPr>
        <p:txBody>
          <a:bodyPr wrap="square" lIns="0" tIns="0" rIns="0" bIns="0">
            <a:spAutoFit/>
          </a:bodyPr>
          <a:lstStyle/>
          <a:p>
            <a:pPr>
              <a:spcAft>
                <a:spcPts val="800"/>
              </a:spcAft>
              <a:defRPr sz="1500" b="0">
                <a:solidFill>
                  <a:srgbClr val="738177"/>
                </a:solidFill>
                <a:latin typeface="맑은 고딕"/>
              </a:defRPr>
            </a:pPr>
            <a:r>
              <a:t>100kcal당 단백질 약 20.2g</a:t>
            </a:r>
          </a:p>
        </p:txBody>
      </p:sp>
      <p:sp>
        <p:nvSpPr>
          <p:cNvPr id="15" name="Rectangle 14"/>
          <p:cNvSpPr/>
          <p:nvPr/>
        </p:nvSpPr>
        <p:spPr>
          <a:xfrm>
            <a:off x="8229600" y="3017520"/>
            <a:ext cx="3639312" cy="2514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30768" y="3200400"/>
            <a:ext cx="3236976" cy="320040"/>
          </a:xfrm>
          <a:prstGeom prst="rect">
            <a:avLst/>
          </a:prstGeom>
          <a:noFill/>
        </p:spPr>
        <p:txBody>
          <a:bodyPr wrap="square" lIns="0" tIns="0" rIns="0" bIns="0">
            <a:spAutoFit/>
          </a:bodyPr>
          <a:lstStyle/>
          <a:p>
            <a:pPr>
              <a:spcAft>
                <a:spcPts val="800"/>
              </a:spcAft>
              <a:defRPr sz="1000" b="1">
                <a:solidFill>
                  <a:srgbClr val="527858"/>
                </a:solidFill>
                <a:latin typeface="맑은 고딕"/>
              </a:defRPr>
            </a:pPr>
            <a:r>
              <a:t>BEFORE BUYING</a:t>
            </a:r>
          </a:p>
        </p:txBody>
      </p:sp>
      <p:sp>
        <p:nvSpPr>
          <p:cNvPr id="17" name="TextBox 16"/>
          <p:cNvSpPr txBox="1"/>
          <p:nvPr/>
        </p:nvSpPr>
        <p:spPr>
          <a:xfrm>
            <a:off x="8430768" y="3675887"/>
            <a:ext cx="3236976" cy="731520"/>
          </a:xfrm>
          <a:prstGeom prst="rect">
            <a:avLst/>
          </a:prstGeom>
          <a:noFill/>
        </p:spPr>
        <p:txBody>
          <a:bodyPr wrap="square" lIns="0" tIns="0" rIns="0" bIns="0">
            <a:spAutoFit/>
          </a:bodyPr>
          <a:lstStyle/>
          <a:p>
            <a:pPr>
              <a:spcAft>
                <a:spcPts val="800"/>
              </a:spcAft>
              <a:defRPr sz="2700" b="1">
                <a:solidFill>
                  <a:srgbClr val="122523"/>
                </a:solidFill>
                <a:latin typeface="맑은 고딕"/>
              </a:defRPr>
            </a:pPr>
            <a:r>
              <a:t>표시·배송 재확인</a:t>
            </a:r>
          </a:p>
        </p:txBody>
      </p:sp>
      <p:sp>
        <p:nvSpPr>
          <p:cNvPr id="18" name="TextBox 17"/>
          <p:cNvSpPr txBox="1"/>
          <p:nvPr/>
        </p:nvSpPr>
        <p:spPr>
          <a:xfrm>
            <a:off x="8430768" y="4572000"/>
            <a:ext cx="3236976" cy="822960"/>
          </a:xfrm>
          <a:prstGeom prst="rect">
            <a:avLst/>
          </a:prstGeom>
          <a:noFill/>
        </p:spPr>
        <p:txBody>
          <a:bodyPr wrap="square" lIns="0" tIns="0" rIns="0" bIns="0">
            <a:spAutoFit/>
          </a:bodyPr>
          <a:lstStyle/>
          <a:p>
            <a:pPr>
              <a:spcAft>
                <a:spcPts val="800"/>
              </a:spcAft>
              <a:defRPr sz="1500" b="0">
                <a:solidFill>
                  <a:srgbClr val="738177"/>
                </a:solidFill>
                <a:latin typeface="맑은 고딕"/>
              </a:defRPr>
            </a:pPr>
            <a:r>
              <a:t>현재 맛·수량·성분·총액 확인</a:t>
            </a:r>
          </a:p>
        </p:txBody>
      </p:sp>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5EB"/>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10058400" cy="274320"/>
          </a:xfrm>
          <a:prstGeom prst="rect">
            <a:avLst/>
          </a:prstGeom>
          <a:noFill/>
        </p:spPr>
        <p:txBody>
          <a:bodyPr wrap="square" lIns="0" tIns="0" rIns="0" bIns="0">
            <a:spAutoFit/>
          </a:bodyPr>
          <a:lstStyle/>
          <a:p>
            <a:pPr>
              <a:spcAft>
                <a:spcPts val="800"/>
              </a:spcAft>
              <a:defRPr sz="1000" b="1">
                <a:solidFill>
                  <a:srgbClr val="527858"/>
                </a:solidFill>
                <a:latin typeface="맑은 고딕"/>
              </a:defRPr>
            </a:pPr>
            <a:r>
              <a:t>SOURCES &amp; LIMITS</a:t>
            </a:r>
          </a:p>
        </p:txBody>
      </p:sp>
      <p:sp>
        <p:nvSpPr>
          <p:cNvPr id="3" name="TextBox 2"/>
          <p:cNvSpPr txBox="1"/>
          <p:nvPr/>
        </p:nvSpPr>
        <p:spPr>
          <a:xfrm>
            <a:off x="502920" y="960120"/>
            <a:ext cx="11064240" cy="1042415"/>
          </a:xfrm>
          <a:prstGeom prst="rect">
            <a:avLst/>
          </a:prstGeom>
          <a:noFill/>
        </p:spPr>
        <p:txBody>
          <a:bodyPr wrap="square" lIns="0" tIns="0" rIns="0" bIns="0">
            <a:spAutoFit/>
          </a:bodyPr>
          <a:lstStyle/>
          <a:p>
            <a:pPr>
              <a:spcAft>
                <a:spcPts val="800"/>
              </a:spcAft>
              <a:defRPr sz="3100" b="1">
                <a:solidFill>
                  <a:srgbClr val="122523"/>
                </a:solidFill>
                <a:latin typeface="맑은 고딕"/>
              </a:defRPr>
            </a:pPr>
            <a:r>
              <a:t>가격은 스냅샷, 영양표는 실험 결과와 다르다</a:t>
            </a:r>
          </a:p>
        </p:txBody>
      </p:sp>
      <p:sp>
        <p:nvSpPr>
          <p:cNvPr id="4" name="TextBox 3"/>
          <p:cNvSpPr txBox="1"/>
          <p:nvPr/>
        </p:nvSpPr>
        <p:spPr>
          <a:xfrm>
            <a:off x="530352" y="2039112"/>
            <a:ext cx="10972800" cy="530352"/>
          </a:xfrm>
          <a:prstGeom prst="rect">
            <a:avLst/>
          </a:prstGeom>
          <a:noFill/>
        </p:spPr>
        <p:txBody>
          <a:bodyPr wrap="square" lIns="0" tIns="0" rIns="0" bIns="0">
            <a:spAutoFit/>
          </a:bodyPr>
          <a:lstStyle/>
          <a:p>
            <a:pPr>
              <a:spcAft>
                <a:spcPts val="800"/>
              </a:spcAft>
              <a:defRPr sz="1300" b="0">
                <a:solidFill>
                  <a:srgbClr val="738177"/>
                </a:solidFill>
                <a:latin typeface="맑은 고딕"/>
              </a:defRPr>
            </a:pPr>
            <a:r>
              <a:t>수집 2026.10.18 · 재게시 가격은 판매처·실결제와 차이 날 수 있음</a:t>
            </a:r>
          </a:p>
        </p:txBody>
      </p:sp>
      <p:sp>
        <p:nvSpPr>
          <p:cNvPr id="5" name="TextBox 4"/>
          <p:cNvSpPr txBox="1"/>
          <p:nvPr/>
        </p:nvSpPr>
        <p:spPr>
          <a:xfrm>
            <a:off x="11018520" y="6428232"/>
            <a:ext cx="685800" cy="274320"/>
          </a:xfrm>
          <a:prstGeom prst="rect">
            <a:avLst/>
          </a:prstGeom>
          <a:noFill/>
        </p:spPr>
        <p:txBody>
          <a:bodyPr wrap="square" lIns="0" tIns="0" rIns="0" bIns="0">
            <a:spAutoFit/>
          </a:bodyPr>
          <a:lstStyle/>
          <a:p>
            <a:pPr>
              <a:spcAft>
                <a:spcPts val="800"/>
              </a:spcAft>
              <a:defRPr sz="1000" b="1">
                <a:solidFill>
                  <a:srgbClr val="122523"/>
                </a:solidFill>
                <a:latin typeface="맑은 고딕"/>
              </a:defRPr>
            </a:pPr>
            <a:r>
              <a:t>13 / 13</a:t>
            </a:r>
          </a:p>
        </p:txBody>
      </p:sp>
      <p:sp>
        <p:nvSpPr>
          <p:cNvPr id="6" name="TextBox 5"/>
          <p:cNvSpPr txBox="1"/>
          <p:nvPr/>
        </p:nvSpPr>
        <p:spPr>
          <a:xfrm>
            <a:off x="502920" y="6428232"/>
            <a:ext cx="10332720" cy="256032"/>
          </a:xfrm>
          <a:prstGeom prst="rect">
            <a:avLst/>
          </a:prstGeom>
          <a:noFill/>
        </p:spPr>
        <p:txBody>
          <a:bodyPr wrap="square" lIns="0" tIns="0" rIns="0" bIns="0">
            <a:spAutoFit/>
          </a:bodyPr>
          <a:lstStyle/>
          <a:p>
            <a:pPr>
              <a:spcAft>
                <a:spcPts val="800"/>
              </a:spcAft>
              <a:defRPr sz="800" b="0">
                <a:solidFill>
                  <a:srgbClr val="738177"/>
                </a:solidFill>
                <a:latin typeface="맑은 고딕"/>
              </a:defRPr>
            </a:pPr>
            <a:r>
              <a:t>D01 · D02 · D03 · D04 · D05 · D06 · C01 · C02 · M01 · N01 · M02 · K01 | 수집 2026.10.18 · 공개 표시값·관측 구성 한정</a:t>
            </a:r>
          </a:p>
        </p:txBody>
      </p:sp>
      <p:sp>
        <p:nvSpPr>
          <p:cNvPr id="7" name="TextBox 6"/>
          <p:cNvSpPr txBox="1"/>
          <p:nvPr/>
        </p:nvSpPr>
        <p:spPr>
          <a:xfrm>
            <a:off x="594360" y="2743200"/>
            <a:ext cx="5440680" cy="393192"/>
          </a:xfrm>
          <a:prstGeom prst="rect">
            <a:avLst/>
          </a:prstGeom>
          <a:noFill/>
        </p:spPr>
        <p:txBody>
          <a:bodyPr wrap="square" lIns="0" tIns="0" rIns="0" bIns="0">
            <a:spAutoFit/>
          </a:bodyPr>
          <a:lstStyle/>
          <a:p>
            <a:pPr>
              <a:spcAft>
                <a:spcPts val="800"/>
              </a:spcAft>
              <a:defRPr sz="1100" b="1">
                <a:solidFill>
                  <a:srgbClr val="122523"/>
                </a:solidFill>
                <a:latin typeface="맑은 고딕"/>
              </a:defRPr>
            </a:pPr>
            <a:r>
              <a:rPr>
                <a:hlinkClick r:id="rId3"/>
              </a:rPr>
              <a:t>[D01] 빙그레 더단백 드링크 초코 250ml (18개) : 다나와 가격비교</a:t>
            </a:r>
          </a:p>
        </p:txBody>
      </p:sp>
      <p:sp>
        <p:nvSpPr>
          <p:cNvPr id="8" name="TextBox 7"/>
          <p:cNvSpPr txBox="1"/>
          <p:nvPr/>
        </p:nvSpPr>
        <p:spPr>
          <a:xfrm>
            <a:off x="594360" y="3209544"/>
            <a:ext cx="5440680" cy="393192"/>
          </a:xfrm>
          <a:prstGeom prst="rect">
            <a:avLst/>
          </a:prstGeom>
          <a:noFill/>
        </p:spPr>
        <p:txBody>
          <a:bodyPr wrap="square" lIns="0" tIns="0" rIns="0" bIns="0">
            <a:spAutoFit/>
          </a:bodyPr>
          <a:lstStyle/>
          <a:p>
            <a:pPr>
              <a:spcAft>
                <a:spcPts val="800"/>
              </a:spcAft>
              <a:defRPr sz="1100" b="1">
                <a:solidFill>
                  <a:srgbClr val="122523"/>
                </a:solidFill>
                <a:latin typeface="맑은 고딕"/>
              </a:defRPr>
            </a:pPr>
            <a:r>
              <a:rPr>
                <a:hlinkClick r:id="rId4"/>
              </a:rPr>
              <a:t>[D02] 매일유업 셀렉스 프로핏 웨이프로틴 초콜릿 330ml (12개) : 다나</a:t>
            </a:r>
          </a:p>
        </p:txBody>
      </p:sp>
      <p:sp>
        <p:nvSpPr>
          <p:cNvPr id="9" name="TextBox 8"/>
          <p:cNvSpPr txBox="1"/>
          <p:nvPr/>
        </p:nvSpPr>
        <p:spPr>
          <a:xfrm>
            <a:off x="594360" y="3675887"/>
            <a:ext cx="5440680" cy="393192"/>
          </a:xfrm>
          <a:prstGeom prst="rect">
            <a:avLst/>
          </a:prstGeom>
          <a:noFill/>
        </p:spPr>
        <p:txBody>
          <a:bodyPr wrap="square" lIns="0" tIns="0" rIns="0" bIns="0">
            <a:spAutoFit/>
          </a:bodyPr>
          <a:lstStyle/>
          <a:p>
            <a:pPr>
              <a:spcAft>
                <a:spcPts val="800"/>
              </a:spcAft>
              <a:defRPr sz="1100" b="1">
                <a:solidFill>
                  <a:srgbClr val="122523"/>
                </a:solidFill>
                <a:latin typeface="맑은 고딕"/>
              </a:defRPr>
            </a:pPr>
            <a:r>
              <a:rPr>
                <a:hlinkClick r:id="rId5"/>
              </a:rPr>
              <a:t>[D03] 닥터유 단백질 프로 드링크 초코 250ml (12개) : 다나와 가격비</a:t>
            </a:r>
          </a:p>
        </p:txBody>
      </p:sp>
      <p:sp>
        <p:nvSpPr>
          <p:cNvPr id="10" name="TextBox 9"/>
          <p:cNvSpPr txBox="1"/>
          <p:nvPr/>
        </p:nvSpPr>
        <p:spPr>
          <a:xfrm>
            <a:off x="594360" y="4142232"/>
            <a:ext cx="5440680" cy="393192"/>
          </a:xfrm>
          <a:prstGeom prst="rect">
            <a:avLst/>
          </a:prstGeom>
          <a:noFill/>
        </p:spPr>
        <p:txBody>
          <a:bodyPr wrap="square" lIns="0" tIns="0" rIns="0" bIns="0">
            <a:spAutoFit/>
          </a:bodyPr>
          <a:lstStyle/>
          <a:p>
            <a:pPr>
              <a:spcAft>
                <a:spcPts val="800"/>
              </a:spcAft>
              <a:defRPr sz="1100" b="1">
                <a:solidFill>
                  <a:srgbClr val="122523"/>
                </a:solidFill>
                <a:latin typeface="맑은 고딕"/>
              </a:defRPr>
            </a:pPr>
            <a:r>
              <a:rPr>
                <a:hlinkClick r:id="rId6"/>
              </a:rPr>
              <a:t>[D04] 정식품 그린비아 프로틴밀 액티브 초코 250ml (18개) : 다나와 </a:t>
            </a:r>
          </a:p>
        </p:txBody>
      </p:sp>
      <p:sp>
        <p:nvSpPr>
          <p:cNvPr id="11" name="TextBox 10"/>
          <p:cNvSpPr txBox="1"/>
          <p:nvPr/>
        </p:nvSpPr>
        <p:spPr>
          <a:xfrm>
            <a:off x="594360" y="4608576"/>
            <a:ext cx="5440680" cy="393192"/>
          </a:xfrm>
          <a:prstGeom prst="rect">
            <a:avLst/>
          </a:prstGeom>
          <a:noFill/>
        </p:spPr>
        <p:txBody>
          <a:bodyPr wrap="square" lIns="0" tIns="0" rIns="0" bIns="0">
            <a:spAutoFit/>
          </a:bodyPr>
          <a:lstStyle/>
          <a:p>
            <a:pPr>
              <a:spcAft>
                <a:spcPts val="800"/>
              </a:spcAft>
              <a:defRPr sz="1100" b="1">
                <a:solidFill>
                  <a:srgbClr val="122523"/>
                </a:solidFill>
                <a:latin typeface="맑은 고딕"/>
              </a:defRPr>
            </a:pPr>
            <a:r>
              <a:rPr>
                <a:hlinkClick r:id="rId7"/>
              </a:rPr>
              <a:t>[D05] 마이밀 퓨로틴 초코맛 250ml (24개) : 다나와 가격비교</a:t>
            </a:r>
          </a:p>
        </p:txBody>
      </p:sp>
      <p:sp>
        <p:nvSpPr>
          <p:cNvPr id="12" name="TextBox 11"/>
          <p:cNvSpPr txBox="1"/>
          <p:nvPr/>
        </p:nvSpPr>
        <p:spPr>
          <a:xfrm>
            <a:off x="594360" y="5074920"/>
            <a:ext cx="5440680" cy="393192"/>
          </a:xfrm>
          <a:prstGeom prst="rect">
            <a:avLst/>
          </a:prstGeom>
          <a:noFill/>
        </p:spPr>
        <p:txBody>
          <a:bodyPr wrap="square" lIns="0" tIns="0" rIns="0" bIns="0">
            <a:spAutoFit/>
          </a:bodyPr>
          <a:lstStyle/>
          <a:p>
            <a:pPr>
              <a:spcAft>
                <a:spcPts val="800"/>
              </a:spcAft>
              <a:defRPr sz="1100" b="1">
                <a:solidFill>
                  <a:srgbClr val="122523"/>
                </a:solidFill>
                <a:latin typeface="맑은 고딕"/>
              </a:defRPr>
            </a:pPr>
            <a:r>
              <a:rPr>
                <a:hlinkClick r:id="rId8"/>
              </a:rPr>
              <a:t>[D06] 롯데칠성음료 오트몬드 프로틴 초코 제로슈거 250ml (6개) : 다나</a:t>
            </a:r>
          </a:p>
        </p:txBody>
      </p:sp>
      <p:sp>
        <p:nvSpPr>
          <p:cNvPr id="13" name="TextBox 12"/>
          <p:cNvSpPr txBox="1"/>
          <p:nvPr/>
        </p:nvSpPr>
        <p:spPr>
          <a:xfrm>
            <a:off x="6400800" y="2743200"/>
            <a:ext cx="5440680" cy="393192"/>
          </a:xfrm>
          <a:prstGeom prst="rect">
            <a:avLst/>
          </a:prstGeom>
          <a:noFill/>
        </p:spPr>
        <p:txBody>
          <a:bodyPr wrap="square" lIns="0" tIns="0" rIns="0" bIns="0">
            <a:spAutoFit/>
          </a:bodyPr>
          <a:lstStyle/>
          <a:p>
            <a:pPr>
              <a:spcAft>
                <a:spcPts val="800"/>
              </a:spcAft>
              <a:defRPr sz="1100" b="1">
                <a:solidFill>
                  <a:srgbClr val="122523"/>
                </a:solidFill>
                <a:latin typeface="맑은 고딕"/>
              </a:defRPr>
            </a:pPr>
            <a:r>
              <a:rPr>
                <a:hlinkClick r:id="rId9"/>
              </a:rPr>
              <a:t>[C01] 더단백 초코 250mL 18개 / 23,900원·무료배송</a:t>
            </a:r>
          </a:p>
        </p:txBody>
      </p:sp>
      <p:sp>
        <p:nvSpPr>
          <p:cNvPr id="14" name="TextBox 13"/>
          <p:cNvSpPr txBox="1"/>
          <p:nvPr/>
        </p:nvSpPr>
        <p:spPr>
          <a:xfrm>
            <a:off x="6400800" y="3209544"/>
            <a:ext cx="5440680" cy="393192"/>
          </a:xfrm>
          <a:prstGeom prst="rect">
            <a:avLst/>
          </a:prstGeom>
          <a:noFill/>
        </p:spPr>
        <p:txBody>
          <a:bodyPr wrap="square" lIns="0" tIns="0" rIns="0" bIns="0">
            <a:spAutoFit/>
          </a:bodyPr>
          <a:lstStyle/>
          <a:p>
            <a:pPr>
              <a:spcAft>
                <a:spcPts val="800"/>
              </a:spcAft>
              <a:defRPr sz="1100" b="1">
                <a:solidFill>
                  <a:srgbClr val="122523"/>
                </a:solidFill>
                <a:latin typeface="맑은 고딕"/>
              </a:defRPr>
            </a:pPr>
            <a:r>
              <a:rPr>
                <a:hlinkClick r:id="rId9"/>
              </a:rPr>
              <a:t>[C02] 더단백 초코 250mL 상세 영양표: 당류 0.8g·단백질 20g·10</a:t>
            </a:r>
          </a:p>
        </p:txBody>
      </p:sp>
      <p:sp>
        <p:nvSpPr>
          <p:cNvPr id="15" name="TextBox 14"/>
          <p:cNvSpPr txBox="1"/>
          <p:nvPr/>
        </p:nvSpPr>
        <p:spPr>
          <a:xfrm>
            <a:off x="6400800" y="3675887"/>
            <a:ext cx="5440680" cy="393192"/>
          </a:xfrm>
          <a:prstGeom prst="rect">
            <a:avLst/>
          </a:prstGeom>
          <a:noFill/>
        </p:spPr>
        <p:txBody>
          <a:bodyPr wrap="square" lIns="0" tIns="0" rIns="0" bIns="0">
            <a:spAutoFit/>
          </a:bodyPr>
          <a:lstStyle/>
          <a:p>
            <a:pPr>
              <a:spcAft>
                <a:spcPts val="800"/>
              </a:spcAft>
              <a:defRPr sz="1100" b="1">
                <a:solidFill>
                  <a:srgbClr val="122523"/>
                </a:solidFill>
                <a:latin typeface="맑은 고딕"/>
              </a:defRPr>
            </a:pPr>
            <a:r>
              <a:rPr>
                <a:hlinkClick r:id="rId10"/>
              </a:rPr>
              <a:t>[M01] 매일유업 공식 제품 영양정보</a:t>
            </a:r>
          </a:p>
        </p:txBody>
      </p:sp>
      <p:sp>
        <p:nvSpPr>
          <p:cNvPr id="16" name="TextBox 15"/>
          <p:cNvSpPr txBox="1"/>
          <p:nvPr/>
        </p:nvSpPr>
        <p:spPr>
          <a:xfrm>
            <a:off x="6400800" y="4142232"/>
            <a:ext cx="5440680" cy="393192"/>
          </a:xfrm>
          <a:prstGeom prst="rect">
            <a:avLst/>
          </a:prstGeom>
          <a:noFill/>
        </p:spPr>
        <p:txBody>
          <a:bodyPr wrap="square" lIns="0" tIns="0" rIns="0" bIns="0">
            <a:spAutoFit/>
          </a:bodyPr>
          <a:lstStyle/>
          <a:p>
            <a:pPr>
              <a:spcAft>
                <a:spcPts val="800"/>
              </a:spcAft>
              <a:defRPr sz="1100" b="1">
                <a:solidFill>
                  <a:srgbClr val="122523"/>
                </a:solidFill>
                <a:latin typeface="맑은 고딕"/>
              </a:defRPr>
            </a:pPr>
            <a:r>
              <a:rPr>
                <a:hlinkClick r:id="rId11"/>
              </a:rPr>
              <a:t>[N01] 오트몬드 250mL·21g 출시 보도</a:t>
            </a:r>
          </a:p>
        </p:txBody>
      </p:sp>
      <p:sp>
        <p:nvSpPr>
          <p:cNvPr id="17" name="TextBox 16"/>
          <p:cNvSpPr txBox="1"/>
          <p:nvPr/>
        </p:nvSpPr>
        <p:spPr>
          <a:xfrm>
            <a:off x="6400800" y="4608576"/>
            <a:ext cx="5440680" cy="393192"/>
          </a:xfrm>
          <a:prstGeom prst="rect">
            <a:avLst/>
          </a:prstGeom>
          <a:noFill/>
        </p:spPr>
        <p:txBody>
          <a:bodyPr wrap="square" lIns="0" tIns="0" rIns="0" bIns="0">
            <a:spAutoFit/>
          </a:bodyPr>
          <a:lstStyle/>
          <a:p>
            <a:pPr>
              <a:spcAft>
                <a:spcPts val="800"/>
              </a:spcAft>
              <a:defRPr sz="1100" b="1">
                <a:solidFill>
                  <a:srgbClr val="122523"/>
                </a:solidFill>
                <a:latin typeface="맑은 고딕"/>
              </a:defRPr>
            </a:pPr>
            <a:r>
              <a:rPr>
                <a:hlinkClick r:id="rId12"/>
              </a:rPr>
              <a:t>[M02] 2026-05-13 닥터유PRO 24g→27g 게시물 제목 확인</a:t>
            </a:r>
          </a:p>
        </p:txBody>
      </p:sp>
      <p:sp>
        <p:nvSpPr>
          <p:cNvPr id="18" name="TextBox 17"/>
          <p:cNvSpPr txBox="1"/>
          <p:nvPr/>
        </p:nvSpPr>
        <p:spPr>
          <a:xfrm>
            <a:off x="6400800" y="5074920"/>
            <a:ext cx="5440680" cy="393192"/>
          </a:xfrm>
          <a:prstGeom prst="rect">
            <a:avLst/>
          </a:prstGeom>
          <a:noFill/>
        </p:spPr>
        <p:txBody>
          <a:bodyPr wrap="square" lIns="0" tIns="0" rIns="0" bIns="0">
            <a:spAutoFit/>
          </a:bodyPr>
          <a:lstStyle/>
          <a:p>
            <a:pPr>
              <a:spcAft>
                <a:spcPts val="800"/>
              </a:spcAft>
              <a:defRPr sz="1100" b="1">
                <a:solidFill>
                  <a:srgbClr val="122523"/>
                </a:solidFill>
                <a:latin typeface="맑은 고딕"/>
              </a:defRPr>
            </a:pPr>
            <a:r>
              <a:rPr>
                <a:hlinkClick r:id="rId13"/>
              </a:rPr>
              <a:t>[K01] 한국소비자원 단백질 보충 일반식품 16개 시험·평가, pp.6·15–1</a:t>
            </a:r>
          </a:p>
        </p:txBody>
      </p:sp>
      <p:sp>
        <p:nvSpPr>
          <p:cNvPr id="19" name="TextBox 18"/>
          <p:cNvSpPr txBox="1"/>
          <p:nvPr/>
        </p:nvSpPr>
        <p:spPr>
          <a:xfrm>
            <a:off x="640080" y="5852160"/>
            <a:ext cx="10881360" cy="320040"/>
          </a:xfrm>
          <a:prstGeom prst="rect">
            <a:avLst/>
          </a:prstGeom>
          <a:noFill/>
        </p:spPr>
        <p:txBody>
          <a:bodyPr wrap="square" lIns="0" tIns="0" rIns="0" bIns="0">
            <a:spAutoFit/>
          </a:bodyPr>
          <a:lstStyle/>
          <a:p>
            <a:pPr>
              <a:spcAft>
                <a:spcPts val="800"/>
              </a:spcAft>
              <a:defRPr sz="1100" b="0">
                <a:solidFill>
                  <a:srgbClr val="738177"/>
                </a:solidFill>
                <a:latin typeface="맑은 고딕"/>
              </a:defRPr>
            </a:pPr>
            <a:r>
              <a:t>가격·영양표는 스냅샷 / 원문 전문·인증 파일 비공개 / 2023 시험과 현재 가격 결합 금지</a:t>
            </a:r>
          </a:p>
        </p:txBody>
      </p:sp>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4199</Words>
  <Application>Microsoft Office PowerPoint</Application>
  <PresentationFormat>와이드스크린</PresentationFormat>
  <Paragraphs>402</Paragraphs>
  <Slides>13</Slides>
  <Notes>13</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13</vt:i4>
      </vt:variant>
    </vt:vector>
  </HeadingPairs>
  <TitlesOfParts>
    <vt:vector size="16" baseType="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현욱 안</cp:lastModifiedBy>
  <cp:revision>2</cp:revision>
  <dcterms:created xsi:type="dcterms:W3CDTF">2013-01-27T09:14:16Z</dcterms:created>
  <dcterms:modified xsi:type="dcterms:W3CDTF">2026-10-18T11:40:03Z</dcterms:modified>
  <cp:category/>
</cp:coreProperties>
</file>